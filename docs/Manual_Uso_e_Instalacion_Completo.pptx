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FFCF9-39FD-4E93-88FA-F1304EA0D1E6}" v="41" dt="2026-10-10T21:38:01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. Perez P." userId="7a7e7aa7ff8079d2" providerId="LiveId" clId="{75CDB029-3568-4BEE-9599-D835F8023BC3}"/>
    <pc:docChg chg="custSel modSld">
      <pc:chgData name="Victor M. Perez P." userId="7a7e7aa7ff8079d2" providerId="LiveId" clId="{75CDB029-3568-4BEE-9599-D835F8023BC3}" dt="2026-10-11T03:51:15.810" v="0" actId="20577"/>
      <pc:docMkLst>
        <pc:docMk/>
      </pc:docMkLst>
      <pc:sldChg chg="modSp mod">
        <pc:chgData name="Victor M. Perez P." userId="7a7e7aa7ff8079d2" providerId="LiveId" clId="{75CDB029-3568-4BEE-9599-D835F8023BC3}" dt="2026-10-11T03:51:15.810" v="0" actId="20577"/>
        <pc:sldMkLst>
          <pc:docMk/>
          <pc:sldMk cId="4064714135" sldId="331"/>
        </pc:sldMkLst>
        <pc:spChg chg="mod">
          <ac:chgData name="Victor M. Perez P." userId="7a7e7aa7ff8079d2" providerId="LiveId" clId="{75CDB029-3568-4BEE-9599-D835F8023BC3}" dt="2026-10-11T03:51:15.810" v="0" actId="20577"/>
          <ac:spMkLst>
            <pc:docMk/>
            <pc:sldMk cId="4064714135" sldId="331"/>
            <ac:spMk id="3" creationId="{A0B20A18-BBB5-9D45-F9FF-2CE5B071FA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8CD5B-260B-4CE6-96DB-F4763D76F5E2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F82E7-F1E3-46E5-A5A4-8094163423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458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imagenes-manual/superadmin_02_panel_principal.png</a:t>
            </a:r>
          </a:p>
          <a:p>
            <a:r>
              <a:rPr lang="es-ES"/>
              <a:t>Dashboard y menú de administración.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9663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imagenes-manual/superadmin_03_crear_carrera.png</a:t>
            </a:r>
          </a:p>
          <a:p>
            <a:r>
              <a:rPr lang="es-ES"/>
              <a:t>Formulario de alta de Ingeniería en Sistemas Inteligentes.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435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imagenes-manual/superadmin_05_editar_carrera.png</a:t>
            </a:r>
          </a:p>
          <a:p>
            <a:r>
              <a:rPr lang="es-ES"/>
              <a:t>Edición del nombre, clave y disponibilidad de una carrera.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0256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imagenes-manual/superadmin_06_crear_materia.png</a:t>
            </a:r>
          </a:p>
          <a:p>
            <a:r>
              <a:rPr lang="es-ES"/>
              <a:t>Materia Sistemas embebidos vinculada a la carrera ISI.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2426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imagenes-manual/superadmin_07_desactivar_materia.png</a:t>
            </a:r>
          </a:p>
          <a:p>
            <a:r>
              <a:rPr lang="es-ES"/>
              <a:t>Edición de una materia y casilla Activa.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85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imagenes-manual/superadmin_08_crear_periodo_escolar.png</a:t>
            </a:r>
          </a:p>
          <a:p>
            <a:r>
              <a:rPr lang="es-ES"/>
              <a:t>Alta del ciclo Agosto-Diciembre 2026.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6318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imagenes-manual/superadmin_10_crear_tipo_proyecto.png</a:t>
            </a:r>
          </a:p>
          <a:p>
            <a:r>
              <a:rPr lang="es-ES"/>
              <a:t>Alta de Prototipo tecnológico.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74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imagenes-manual/superadmin_11_crear_requisito.png</a:t>
            </a:r>
          </a:p>
          <a:p>
            <a:r>
              <a:rPr lang="es-ES"/>
              <a:t>Requisito Validación del prototipo.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355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imagenes-manual/superadmin_13_crear_grupo.png</a:t>
            </a:r>
          </a:p>
          <a:p>
            <a:r>
              <a:rPr lang="es-ES"/>
              <a:t>Alta del grupo ISI-5A; los grados se administran en la sección anterior.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1536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Superadministrador</a:t>
            </a:r>
          </a:p>
          <a:p>
            <a:r>
              <a:rPr lang="es-MX"/>
              <a:t>Captura: imagenes-manual/superadmin_15_crear_administrador.png</a:t>
            </a:r>
          </a:p>
          <a:p>
            <a:r>
              <a:rPr lang="es-MX"/>
              <a:t>Alta de Elena Torres García como administradora.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966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imagenes-manual/superadmin_16_administrador_creado.png</a:t>
            </a:r>
          </a:p>
          <a:p>
            <a:r>
              <a:rPr lang="es-ES"/>
              <a:t>Aviso de creación y contraseña temporal de un solo despliegue.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8511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imagenes-manual/superadmin_18_administrador_bloqueado.png</a:t>
            </a:r>
          </a:p>
          <a:p>
            <a:r>
              <a:rPr lang="es-ES"/>
              <a:t>Cuenta administrativa de prueba en estado Bloqueado.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9901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imagenes-manual/superadmin_20_restablecer_contrasena_administrador.png</a:t>
            </a:r>
          </a:p>
          <a:p>
            <a:r>
              <a:rPr lang="es-ES"/>
              <a:t>Nueva credencial temporal para una cuenta administrativa.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241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Superadministrador</a:t>
            </a:r>
          </a:p>
          <a:p>
            <a:r>
              <a:rPr lang="es-MX"/>
              <a:t>Captura: imagenes-manual/superadmin_21_administrador_eliminado.png</a:t>
            </a:r>
          </a:p>
          <a:p>
            <a:r>
              <a:rPr lang="es-MX"/>
              <a:t>Registro histórico de una cuenta eliminada.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9372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imagenes-manual/superadmin_26_solicitudes_alumnos.png</a:t>
            </a:r>
          </a:p>
          <a:p>
            <a:r>
              <a:rPr lang="es-ES"/>
              <a:t>Solicitudes reales de los alumnos creados para la demostración.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5426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imagenes-manual/superadmin_28_rechazar_solicitud.png</a:t>
            </a:r>
          </a:p>
          <a:p>
            <a:r>
              <a:rPr lang="es-ES"/>
              <a:t>Ventana de rechazo con una observación de ejemplo.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5712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imagenes-manual/superadmin_30_alumno_bloqueado.png</a:t>
            </a:r>
          </a:p>
          <a:p>
            <a:r>
              <a:rPr lang="es-ES"/>
              <a:t>Cuenta de prueba bloqueada desde Usuarios.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091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imagenes-manual/superadmin_34_bitacora_acciones.png</a:t>
            </a:r>
          </a:p>
          <a:p>
            <a:r>
              <a:rPr lang="es-ES"/>
              <a:t>Historial de las acciones realizadas durante el recorrido.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8484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Superadministrador</a:t>
            </a:r>
          </a:p>
          <a:p>
            <a:r>
              <a:rPr lang="es-ES"/>
              <a:t>Captura: imagenes-manual/superadmin_24_almacenamiento.png</a:t>
            </a:r>
          </a:p>
          <a:p>
            <a:r>
              <a:rPr lang="es-ES"/>
              <a:t>Diagnóstico del almacenamiento del portal.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7519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imagenes-manual/alumno_01_crear_cuenta.png</a:t>
            </a:r>
          </a:p>
          <a:p>
            <a:r>
              <a:rPr lang="es-ES"/>
              <a:t>Registro de Ana Martínez Ruiz, responsable de EcoRiego.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6201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imagenes-manual/alumno_02_cuenta_pendiente.png</a:t>
            </a:r>
          </a:p>
          <a:p>
            <a:r>
              <a:rPr lang="es-ES"/>
              <a:t>Panel del alumno con cuenta Pendiente.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4864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imagenes-manual/alumno_05_perfil_actualizado.png</a:t>
            </a:r>
          </a:p>
          <a:p>
            <a:r>
              <a:rPr lang="es-ES"/>
              <a:t>Formulario de perfil académico del alumno.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9131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imagenes-manual/alumno_04_panel_aprobado.png</a:t>
            </a:r>
          </a:p>
          <a:p>
            <a:r>
              <a:rPr lang="es-ES"/>
              <a:t>Panel de una cuenta aprobada.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8183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imagenes-manual/alumno_07_datos_del_proyecto.png</a:t>
            </a:r>
          </a:p>
          <a:p>
            <a:r>
              <a:rPr lang="es-ES"/>
              <a:t>Identidad y clasificación del proyecto EcoRiego.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3998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imagenes-manual/alumno_08_problema_y_solucion.png</a:t>
            </a:r>
          </a:p>
          <a:p>
            <a:r>
              <a:rPr lang="es-ES"/>
              <a:t>Apartados de contenido académico.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87386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imagenes-manual/alumno_10_seleccionar_pdf.png</a:t>
            </a:r>
          </a:p>
          <a:p>
            <a:r>
              <a:rPr lang="es-ES"/>
              <a:t>Selección del PDF de ejemplo para EcoRiego.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2274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imagenes-manual/alumno_11_pdf_guardado.png</a:t>
            </a:r>
          </a:p>
          <a:p>
            <a:r>
              <a:rPr lang="es-ES"/>
              <a:t>Documento adjunto y controles de administración del PDF.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203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imagenes-manual/alumno_13_buscar_integrante.png</a:t>
            </a:r>
          </a:p>
          <a:p>
            <a:r>
              <a:rPr lang="es-ES"/>
              <a:t>Búsqueda de Luis Hernández Soto por matrícula.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9966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imagenes-manual/alumno_15_equipo_con_tres_integrantes.png</a:t>
            </a:r>
          </a:p>
          <a:p>
            <a:r>
              <a:rPr lang="es-ES"/>
              <a:t>EcoRiego con responsable y dos compañeros vinculados.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11267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imagenes-manual/alumno_17_enviar_a_revision.png</a:t>
            </a:r>
          </a:p>
          <a:p>
            <a:r>
              <a:rPr lang="es-ES"/>
              <a:t>Acciones Guardar borrador y Enviar a revisión.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03203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imagenes-manual/alumno_19_cancelar_envio.png</a:t>
            </a:r>
          </a:p>
          <a:p>
            <a:r>
              <a:rPr lang="es-ES"/>
              <a:t>Proyecto Enviado con la opción Cancelar envío.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1836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imagenes-manual/alumno_21_eliminar_borrador.png</a:t>
            </a:r>
          </a:p>
          <a:p>
            <a:r>
              <a:rPr lang="es-ES"/>
              <a:t>Borrador de práctica que puede eliminarse.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84622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imagenes-manual/alumno_24_integrante_consulta_sin_editar.png</a:t>
            </a:r>
          </a:p>
          <a:p>
            <a:r>
              <a:rPr lang="es-ES"/>
              <a:t>Vista del proyecto al entrar con la cuenta de Luis.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08350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imagenes-manual/alumno_28_observaciones_del_administrador.png</a:t>
            </a:r>
          </a:p>
          <a:p>
            <a:r>
              <a:rPr lang="es-ES"/>
              <a:t>Observaciones y requisito pendiente de la revisión de EcoRiego.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4583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imagenes-manual/alumno_30_proyecto_reenviado.png</a:t>
            </a:r>
          </a:p>
          <a:p>
            <a:r>
              <a:rPr lang="es-ES"/>
              <a:t>Proyecto reenviado después de atender las observaciones.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423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imagenes-manual/alumno_32_proyecto_aprobado.png</a:t>
            </a:r>
          </a:p>
          <a:p>
            <a:r>
              <a:rPr lang="es-ES"/>
              <a:t>Detalle del proyecto con estado Aprobado.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1887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imagenes-manual/alumno_33_actualizar_pdf_aprobado.png</a:t>
            </a:r>
          </a:p>
          <a:p>
            <a:r>
              <a:rPr lang="es-ES"/>
              <a:t>Reemplazo del documento de un proyecto aprobado.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53783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imagenes-manual/alumno_40_proyecto_rechazado.png</a:t>
            </a:r>
          </a:p>
          <a:p>
            <a:r>
              <a:rPr lang="es-ES"/>
              <a:t>Propuesta de agenda escolar rechazada por falta de correspondencia con la materia.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8549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imagenes-manual/alumno_31_notificacion_aprobacion.png</a:t>
            </a:r>
          </a:p>
          <a:p>
            <a:r>
              <a:rPr lang="es-ES"/>
              <a:t>Avisos de revisión y aprobación guardados para el alumno.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31125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imagenes-manual/alumno_35_dar_me_gusta.png</a:t>
            </a:r>
          </a:p>
          <a:p>
            <a:r>
              <a:rPr lang="es-ES"/>
              <a:t>Interacción de una cuenta aprobada con un proyecto público.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70527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Alumno</a:t>
            </a:r>
          </a:p>
          <a:p>
            <a:r>
              <a:rPr lang="es-ES"/>
              <a:t>Captura: imagenes-manual/alumno_38_cambiar_contrasena.png</a:t>
            </a:r>
          </a:p>
          <a:p>
            <a:r>
              <a:rPr lang="es-ES"/>
              <a:t>Formulario para cambiar la contraseña de una cuenta.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61333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imagenes-manual/admin_01_cambiar_contrasena_temporal.png</a:t>
            </a:r>
          </a:p>
          <a:p>
            <a:r>
              <a:rPr lang="es-ES"/>
              <a:t>Cambio obligatorio de la contraseña temporal de Elena.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44129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imagenes-manual/admin_61_panel_con_resultados.png</a:t>
            </a:r>
          </a:p>
          <a:p>
            <a:r>
              <a:rPr lang="es-ES"/>
              <a:t>Dashboard con proyectos, cuentas y publicaciones de la demostración.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78973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imagenes-manual/admin_03_cola_de_revision.png</a:t>
            </a:r>
          </a:p>
          <a:p>
            <a:r>
              <a:rPr lang="es-ES"/>
              <a:t>Cola con los proyectos enviados por los alumnos.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52806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imagenes-manual/admin_05_revision_asignada.png</a:t>
            </a:r>
          </a:p>
          <a:p>
            <a:r>
              <a:rPr lang="es-ES"/>
              <a:t>Revisión asignada a la administradora que la tomó.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22191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imagenes-manual/admin_06_revision_asignada_a_otro_admin.png</a:t>
            </a:r>
          </a:p>
          <a:p>
            <a:r>
              <a:rPr lang="es-ES"/>
              <a:t>Ricardo consulta un proyecto cuya revisión está asignada a Elena.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43880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imagenes-manual/admin_07_solicitar_correcciones.png</a:t>
            </a:r>
          </a:p>
          <a:p>
            <a:r>
              <a:rPr lang="es-ES"/>
              <a:t>Observaciones y requisito pendiente seleccionados por administración.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49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3254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imagenes-manual/admin_09_proyecto_reenviado_en_cola.png</a:t>
            </a:r>
          </a:p>
          <a:p>
            <a:r>
              <a:rPr lang="es-ES"/>
              <a:t>EcoRiego regresa a la cola con estado Reenviado.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61822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imagenes-manual/admin_10_aprobar_proyecto.png</a:t>
            </a:r>
          </a:p>
          <a:p>
            <a:r>
              <a:rPr lang="es-ES"/>
              <a:t>Confirmación de aprobación con una nota de revisión.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6486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imagenes-manual/admin_14_rechazar_proyecto.png</a:t>
            </a:r>
          </a:p>
          <a:p>
            <a:r>
              <a:rPr lang="es-ES"/>
              <a:t>Rechazo de una propuesta de ejemplo.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31070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imagenes-manual/admin_12_proyecto_terminado.png</a:t>
            </a:r>
          </a:p>
          <a:p>
            <a:r>
              <a:rPr lang="es-ES"/>
              <a:t>Proyecto aprobado marcado como Terminado.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00743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imagenes-manual/admin_18_gestionar_publicacion.png</a:t>
            </a:r>
          </a:p>
          <a:p>
            <a:r>
              <a:rPr lang="es-ES"/>
              <a:t>Pantalla de publicación de un proyecto aprobado.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6929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imagenes-manual/admin_19_subir_imagen_proyecto.png</a:t>
            </a:r>
          </a:p>
          <a:p>
            <a:r>
              <a:rPr lang="es-ES"/>
              <a:t>Carga de imagenes_proyecto1.png desde la carpeta del manual.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68275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imagenes-manual/admin_21_galeria_y_portada_proyecto.png</a:t>
            </a:r>
          </a:p>
          <a:p>
            <a:r>
              <a:rPr lang="es-ES"/>
              <a:t>Portada y galería del proyecto EcoRiego.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75966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imagenes-manual/admin_63_portada_unica_galeria_correcta.png</a:t>
            </a:r>
          </a:p>
          <a:p>
            <a:r>
              <a:rPr lang="es-ES"/>
              <a:t>Proyecto EcoRiego con una portada y una imagen de galería.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41685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imagenes-manual/admin_25_publicar_proyecto_destacado.png</a:t>
            </a:r>
          </a:p>
          <a:p>
            <a:r>
              <a:rPr lang="es-ES"/>
              <a:t>Versión seleccionada y opción Destacar en el portal.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47233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imagenes-manual/admin_29_ocultar_publicacion.png</a:t>
            </a:r>
          </a:p>
          <a:p>
            <a:r>
              <a:rPr lang="es-ES"/>
              <a:t>Publicación oculta con sus imágenes conservadas.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59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6372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imagenes-manual/admin_31_crear_noticia.png</a:t>
            </a:r>
          </a:p>
          <a:p>
            <a:r>
              <a:rPr lang="es-ES"/>
              <a:t>Texto de la noticia Feria de innovación 2026.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39364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Administrador</a:t>
            </a:r>
          </a:p>
          <a:p>
            <a:r>
              <a:rPr lang="es-MX"/>
              <a:t>Captura: imagenes-manual/admin_33_subir_imagen_noticia.png</a:t>
            </a:r>
          </a:p>
          <a:p>
            <a:r>
              <a:rPr lang="es-MX"/>
              <a:t>Carga de imagen_noticia1.png como imagen editorial.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63360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imagenes-manual/admin_35_galeria_noticia.png</a:t>
            </a:r>
          </a:p>
          <a:p>
            <a:r>
              <a:rPr lang="es-ES"/>
              <a:t>Dos imágenes de ejemplo guardadas en la noticia.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033152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imagenes-manual/admin_39_video_local_guardado.png</a:t>
            </a:r>
          </a:p>
          <a:p>
            <a:r>
              <a:rPr lang="es-ES"/>
              <a:t>Video MP4 de demostración guardado y disponible para reproducción.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43347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Administrador</a:t>
            </a:r>
          </a:p>
          <a:p>
            <a:r>
              <a:rPr lang="es-MX"/>
              <a:t>Captura: imagenes-manual/admin_49_guardar_video_externo.png</a:t>
            </a:r>
          </a:p>
          <a:p>
            <a:r>
              <a:rPr lang="es-MX"/>
              <a:t>Formulario para guardar una URL de YouTube.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88513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Administrador</a:t>
            </a:r>
          </a:p>
          <a:p>
            <a:r>
              <a:rPr lang="es-MX"/>
              <a:t>Captura: imagenes-manual/admin_42_vista_previa_noticia.png</a:t>
            </a:r>
          </a:p>
          <a:p>
            <a:r>
              <a:rPr lang="es-MX"/>
              <a:t>Vista previa administrativa de la noticia antes de publicarla.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26454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imagenes-manual/admin_43_publicar_noticia.png</a:t>
            </a:r>
          </a:p>
          <a:p>
            <a:r>
              <a:rPr lang="es-ES"/>
              <a:t>Acciones de guardado, publicación y vista previa.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21833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imagenes-manual/admin_47_ocultar_noticia.png</a:t>
            </a:r>
          </a:p>
          <a:p>
            <a:r>
              <a:rPr lang="es-ES"/>
              <a:t>Noticia oculta con la opción Volver a publicar.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33641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imagenes-manual/admin_55_eliminar_borrador_noticia.png</a:t>
            </a:r>
          </a:p>
          <a:p>
            <a:r>
              <a:rPr lang="es-ES"/>
              <a:t>Acción disponible para una noticia que nunca se publicó.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49489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Administrador</a:t>
            </a:r>
          </a:p>
          <a:p>
            <a:r>
              <a:rPr lang="es-MX"/>
              <a:t>Captura: imagenes-manual/admin_57_filtrar_noticias_publicadas.png</a:t>
            </a:r>
          </a:p>
          <a:p>
            <a:r>
              <a:rPr lang="es-MX"/>
              <a:t>Listado de noticias publicadas durante la demostración.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69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77717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Administrador</a:t>
            </a:r>
          </a:p>
          <a:p>
            <a:r>
              <a:rPr lang="es-ES"/>
              <a:t>Captura: imagenes-manual/admin_64_consultar_bitacora.png</a:t>
            </a:r>
          </a:p>
          <a:p>
            <a:r>
              <a:rPr lang="es-ES"/>
              <a:t>Consulta de las acciones de Elena relacionadas con proyectos.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451243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Portal público</a:t>
            </a:r>
          </a:p>
          <a:p>
            <a:r>
              <a:rPr lang="es-ES"/>
              <a:t>Captura: imagenes-manual/publico_01_inicio_con_proyectos_noticias.png</a:t>
            </a:r>
          </a:p>
          <a:p>
            <a:r>
              <a:rPr lang="es-ES"/>
              <a:t>Página de inicio con proyectos y noticias de demostración.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86245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Portal público</a:t>
            </a:r>
          </a:p>
          <a:p>
            <a:r>
              <a:rPr lang="es-ES"/>
              <a:t>Captura: imagenes-manual/publico_03_buscar_filtrar_proyectos.png</a:t>
            </a:r>
          </a:p>
          <a:p>
            <a:r>
              <a:rPr lang="es-ES"/>
              <a:t>Búsqueda de RoboRuta con estado de desarrollo Terminado.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52931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Portal público</a:t>
            </a:r>
          </a:p>
          <a:p>
            <a:r>
              <a:rPr lang="es-ES"/>
              <a:t>Captura: imagenes-manual/publico_04_detalle_proyecto.png</a:t>
            </a:r>
          </a:p>
          <a:p>
            <a:r>
              <a:rPr lang="es-ES"/>
              <a:t>Ficha pública de EcoRiego con la imagen generada para su portada.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60279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Sección: Portal público</a:t>
            </a:r>
          </a:p>
          <a:p>
            <a:r>
              <a:rPr lang="es-MX"/>
              <a:t>Captura: imagenes-manual/publico_05_listado_noticias.png</a:t>
            </a:r>
          </a:p>
          <a:p>
            <a:r>
              <a:rPr lang="es-MX"/>
              <a:t>Noticias públicas con sus portadas generadas.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998641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Operación y consulta</a:t>
            </a:r>
          </a:p>
          <a:p>
            <a:r>
              <a:rPr lang="es-ES"/>
              <a:t>Captura: imagenes-manual/publico_01_inicio_con_proyectos_noticias.png</a:t>
            </a:r>
          </a:p>
          <a:p>
            <a:r>
              <a:rPr lang="es-ES"/>
              <a:t>Portal local en funcionamiento después de iniciar el ejecutable.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691616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Operación y consulta</a:t>
            </a:r>
          </a:p>
          <a:p>
            <a:r>
              <a:rPr lang="es-ES"/>
              <a:t>Captura: imagenes-manual/superadmin_35_almacenamiento_final.png</a:t>
            </a:r>
          </a:p>
          <a:p>
            <a:r>
              <a:rPr lang="es-ES"/>
              <a:t>Diagnóstico con los documentos e imágenes utilizados en el manual.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5826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Sección: Operación y consulta</a:t>
            </a:r>
          </a:p>
          <a:p>
            <a:r>
              <a:rPr lang="es-ES"/>
              <a:t>Captura: imagenes-manual/alumno_02_cuenta_pendiente.png</a:t>
            </a:r>
          </a:p>
          <a:p>
            <a:r>
              <a:rPr lang="es-ES"/>
              <a:t>Ejemplo de una cuenta que aún espera aprobación.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F82E7-F1E3-46E5-A5A4-809416342355}" type="slidenum">
              <a:rPr lang="es-MX" smtClean="0"/>
              <a:t>77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98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7C6DC-A0A1-362B-32AC-4D90CDC7B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32625D-D776-98CB-1C62-C98183436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352BCB-4F22-AB73-2CEF-5575926B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B5048-6232-A58B-B668-F0199979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F68208-8EF2-CAA3-5151-D56BA31B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21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337C0-DF36-9433-D973-9D56E849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692E6-4AE0-6932-267D-E799A718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8A3524-13F0-C2DE-F8FC-F5C4A18E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941AE2-E8BF-0290-1B67-8E4C868C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60C20F-2B15-9514-5B39-9AC80674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61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8329B-D6D2-CFD4-3E12-A0009BD6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5CD44A-B9F3-940F-4081-7CF0196E8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78C96B-D3F3-2DF2-F5E8-999B016F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E968C5-6DDE-9499-B537-B5B1D756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4C819B-1A7C-2475-B3A0-F1F750B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824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395DE-B853-1ECC-3667-04C619EB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10A3C2-8565-1690-AB4B-7B60C8E4A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0EE8B0-142C-9AA8-A39D-CAD5893C8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8A5A1-2A05-C769-7011-EACDBFCD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469B85-64C5-5B22-5D79-4926BF5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A841F-42B1-69AC-9C90-E49466B9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92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8A6DC-30AE-0672-4CF5-02160733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E7890C-DA33-4633-2B50-674CAF04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05D331-D26D-2875-A6ED-F3A76921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5C25A0-741E-FEEF-39D1-61E6029FC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5699D7-0FFB-8B27-DB68-C7B8D0B6B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A0CDB2-CCF0-8032-FEAA-0288FA28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D245C23-C1A9-2518-51D5-FD537AD3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14E40D-3503-6A75-9210-1541C225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87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FE7D5-A9A1-7126-8D88-C91B361A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01146E-2549-01A6-1736-FA4D76A0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1FB9E7-584A-66DE-6AED-34DB6554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414318-A6FE-9EFE-7240-584EB8B2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133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99836A-1C95-1F01-AD62-32CA790C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024AA1-4768-0392-FB58-92BE26DA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7EE008-A4EE-3F7F-4A6A-9988AD4E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37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DB0FF-BD7C-A27A-4C4A-1876A6CF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41415F-8912-5BDE-1FA0-0FE21A774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56F0AA-18A1-555B-0686-35EA031F6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BE26B8-334A-65EB-158A-0B6E9F96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F82B27-E0EF-3C86-0B95-CFED39AF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CB5371-F595-91CF-C1B2-B9FE0392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343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C3201-B190-D616-8315-91F963DD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264391-D4D7-1E0A-BC1D-98C9A47F68A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11D46F-356B-6A55-5DE8-9E5661B03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A9EAA1-22C1-0E55-E182-F190216F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69E0FF-2012-F977-7EE8-196699BE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92A7BE-D610-38C8-E344-8F264320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06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9B951-F8E7-39E7-F7AF-8BFF698E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CC477E-64D5-FC83-08FF-0320E69B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A73B0F-7029-C90D-9D3E-B05DF6EE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EF5DB6-D0B1-21BC-6F27-CA6FC5AB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4144B3-A559-FD9E-624E-3E548F4E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914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8541AA-B2EE-9F05-B7C8-97271EFD9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344014-BE21-B0F1-B622-03B7268A9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888D0F-74BD-2440-DEE6-AD7224CB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03DBFC-DD70-EEE8-B2B3-F6B42032F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F2FD28-AE68-EA01-0362-E638362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702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34B1A0-30E8-A123-0874-F01420AA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4DA736-77B2-74BE-2D31-5238CC8CF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7E95FF-9F92-8F54-65D5-CD88845A7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81CE7-FCBF-475D-B0E0-BDE9E800F7E0}" type="datetimeFigureOut">
              <a:rPr lang="es-MX" smtClean="0"/>
              <a:t>10/10/2026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6C233-ACF0-8E2E-89B6-EAE04C324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B762BB-1862-A720-0347-7D216A1E8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1C995-CCC2-41D9-80EA-AA73B6792A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204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8305F-565D-07AB-BEAC-3E566F62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619432"/>
            <a:ext cx="4650658" cy="530225"/>
          </a:xfrm>
        </p:spPr>
        <p:txBody>
          <a:bodyPr>
            <a:normAutofit fontScale="90000"/>
          </a:bodyPr>
          <a:lstStyle/>
          <a:p>
            <a:r>
              <a:rPr lang="es-MX" dirty="0"/>
              <a:t>Primera Instalación 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3B262C7-F3C1-ED1F-8667-A042DFE5C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2" y="619432"/>
            <a:ext cx="6814010" cy="5872807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43E23A-8735-F9A7-C06B-B3ED8955A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794" y="1149658"/>
            <a:ext cx="4819394" cy="4995504"/>
          </a:xfrm>
        </p:spPr>
        <p:txBody>
          <a:bodyPr/>
          <a:lstStyle/>
          <a:p>
            <a:r>
              <a:rPr lang="es-MX" b="1" dirty="0"/>
              <a:t>1-Abrir PowerShell en la carpeta app</a:t>
            </a:r>
            <a:endParaRPr lang="es-MX" dirty="0"/>
          </a:p>
          <a:p>
            <a:r>
              <a:rPr lang="es-MX" b="1" dirty="0"/>
              <a:t>2-Configurar el correo del primer SuperAdministrador:</a:t>
            </a:r>
          </a:p>
          <a:p>
            <a:r>
              <a:rPr lang="es-MX" b="1" dirty="0">
                <a:solidFill>
                  <a:schemeClr val="accent5"/>
                </a:solidFill>
              </a:rPr>
              <a:t>$</a:t>
            </a:r>
            <a:r>
              <a:rPr lang="es-MX" b="1" dirty="0" err="1">
                <a:solidFill>
                  <a:schemeClr val="accent5"/>
                </a:solidFill>
              </a:rPr>
              <a:t>env:Portal__SeedAdmin__Email</a:t>
            </a:r>
            <a:r>
              <a:rPr lang="es-MX" b="1" dirty="0">
                <a:solidFill>
                  <a:schemeClr val="accent5"/>
                </a:solidFill>
              </a:rPr>
              <a:t> </a:t>
            </a:r>
            <a:r>
              <a:rPr lang="es-MX" b="1" dirty="0">
                <a:solidFill>
                  <a:schemeClr val="accent2"/>
                </a:solidFill>
              </a:rPr>
              <a:t>=</a:t>
            </a:r>
            <a:r>
              <a:rPr lang="es-MX" b="1" dirty="0"/>
              <a:t> </a:t>
            </a:r>
            <a:r>
              <a:rPr lang="es-MX" b="1" dirty="0">
                <a:solidFill>
                  <a:schemeClr val="accent6"/>
                </a:solidFill>
              </a:rPr>
              <a:t>"correo@ejemplo.com" </a:t>
            </a:r>
          </a:p>
          <a:p>
            <a:r>
              <a:rPr lang="es-MX" b="1" dirty="0"/>
              <a:t>3-Configurar la contraseña inicial del SuperAdministrador</a:t>
            </a:r>
          </a:p>
          <a:p>
            <a:r>
              <a:rPr lang="es-MX" b="1" dirty="0">
                <a:solidFill>
                  <a:schemeClr val="accent5"/>
                </a:solidFill>
              </a:rPr>
              <a:t>$</a:t>
            </a:r>
            <a:r>
              <a:rPr lang="es-MX" b="1" dirty="0" err="1">
                <a:solidFill>
                  <a:schemeClr val="accent5"/>
                </a:solidFill>
              </a:rPr>
              <a:t>env:Portal__SeedAdmin__Password</a:t>
            </a:r>
            <a:r>
              <a:rPr lang="es-MX" b="1" dirty="0">
                <a:solidFill>
                  <a:schemeClr val="accent5"/>
                </a:solidFill>
              </a:rPr>
              <a:t> </a:t>
            </a:r>
            <a:r>
              <a:rPr lang="es-MX" b="1" dirty="0">
                <a:solidFill>
                  <a:schemeClr val="accent2"/>
                </a:solidFill>
              </a:rPr>
              <a:t>=</a:t>
            </a:r>
            <a:r>
              <a:rPr lang="es-MX" b="1" dirty="0"/>
              <a:t> </a:t>
            </a:r>
            <a:r>
              <a:rPr lang="es-MX" b="1" dirty="0">
                <a:solidFill>
                  <a:schemeClr val="accent6"/>
                </a:solidFill>
              </a:rPr>
              <a:t>"TuContraseñaSegura“</a:t>
            </a:r>
            <a:endParaRPr lang="es-MX" b="1" dirty="0"/>
          </a:p>
          <a:p>
            <a:r>
              <a:rPr lang="es-MX" b="1" dirty="0"/>
              <a:t>4-Configurar el puerto de la aplicación Utilizaremos el puerto 5000, Cambiar por puerto autorizado:</a:t>
            </a:r>
          </a:p>
          <a:p>
            <a:r>
              <a:rPr lang="es-MX" b="1" dirty="0">
                <a:solidFill>
                  <a:schemeClr val="accent5"/>
                </a:solidFill>
              </a:rPr>
              <a:t>$env:ASPNETCORE_URLS </a:t>
            </a:r>
            <a:r>
              <a:rPr lang="es-MX" b="1" dirty="0">
                <a:solidFill>
                  <a:schemeClr val="accent2"/>
                </a:solidFill>
              </a:rPr>
              <a:t>=</a:t>
            </a:r>
            <a:r>
              <a:rPr lang="es-MX" b="1" dirty="0">
                <a:solidFill>
                  <a:schemeClr val="accent6"/>
                </a:solidFill>
              </a:rPr>
              <a:t> "http://0.0.0.0:5000"</a:t>
            </a:r>
            <a:endParaRPr lang="es-MX" b="1" dirty="0"/>
          </a:p>
          <a:p>
            <a:r>
              <a:rPr lang="es-MX" b="1" dirty="0"/>
              <a:t>5-Iniciar Portal de Proyectos</a:t>
            </a:r>
          </a:p>
          <a:p>
            <a:r>
              <a:rPr lang="es-MX" b="1" dirty="0">
                <a:solidFill>
                  <a:schemeClr val="accent5"/>
                </a:solidFill>
              </a:rPr>
              <a:t>.\PortalProyectos.Web.exe</a:t>
            </a:r>
          </a:p>
        </p:txBody>
      </p:sp>
      <p:sp>
        <p:nvSpPr>
          <p:cNvPr id="7" name="Signo menos 6">
            <a:extLst>
              <a:ext uri="{FF2B5EF4-FFF2-40B4-BE49-F238E27FC236}">
                <a16:creationId xmlns:a16="http://schemas.microsoft.com/office/drawing/2014/main" id="{B84972BF-F4CC-5C64-5495-3789322245C6}"/>
              </a:ext>
            </a:extLst>
          </p:cNvPr>
          <p:cNvSpPr/>
          <p:nvPr/>
        </p:nvSpPr>
        <p:spPr>
          <a:xfrm>
            <a:off x="9833846" y="1553170"/>
            <a:ext cx="1256941" cy="855734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501F065-D7A7-1CBC-84DA-C89C01045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2" y="3087329"/>
            <a:ext cx="6813754" cy="340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6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3116-ADD4-215E-68AD-887DD321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EFDB8-C2A3-D575-4920-456D8101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619432"/>
            <a:ext cx="4650658" cy="530225"/>
          </a:xfrm>
        </p:spPr>
        <p:txBody>
          <a:bodyPr>
            <a:normAutofit fontScale="90000"/>
          </a:bodyPr>
          <a:lstStyle/>
          <a:p>
            <a:r>
              <a:rPr lang="es-MX" dirty="0"/>
              <a:t>Primer Inicio de sesión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742BD0-28A0-7547-24FA-E063C30FE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794" y="1149658"/>
            <a:ext cx="4819394" cy="5408458"/>
          </a:xfrm>
        </p:spPr>
        <p:txBody>
          <a:bodyPr>
            <a:normAutofit fontScale="92500" lnSpcReduction="20000"/>
          </a:bodyPr>
          <a:lstStyle/>
          <a:p>
            <a:r>
              <a:rPr lang="es-MX" sz="1700" b="1" dirty="0"/>
              <a:t>6-Abrir el portal en la misma computadora En el navegador:</a:t>
            </a:r>
          </a:p>
          <a:p>
            <a:r>
              <a:rPr lang="es-MX" sz="1700" dirty="0"/>
              <a:t>http://localhost:5000</a:t>
            </a:r>
          </a:p>
          <a:p>
            <a:r>
              <a:rPr lang="es-MX" sz="1700" b="1" dirty="0"/>
              <a:t>7-Iniciar sesión con el primer SuperAdministrador</a:t>
            </a:r>
          </a:p>
          <a:p>
            <a:r>
              <a:rPr lang="es-MX" sz="1700" dirty="0"/>
              <a:t>Usa el correo y contraseña definidos en los pasos 2 y 3.</a:t>
            </a:r>
          </a:p>
          <a:p>
            <a:r>
              <a:rPr lang="es-MX" sz="1700" b="1" dirty="0"/>
              <a:t>8-Cambiar la contraseña inicial</a:t>
            </a:r>
          </a:p>
          <a:p>
            <a:r>
              <a:rPr lang="es-MX" sz="1700" dirty="0"/>
              <a:t>El sistema debe solicitar el cambio obligatorio de contraseña. Establece la contraseña definitiva que utilizarás para esta cuenta.</a:t>
            </a:r>
          </a:p>
          <a:p>
            <a:r>
              <a:rPr lang="es-MX" sz="1700" b="1" dirty="0"/>
              <a:t>9-Primer arranque automático</a:t>
            </a:r>
          </a:p>
          <a:p>
            <a:r>
              <a:rPr lang="es-MX" sz="1700" dirty="0"/>
              <a:t>Durante esta primera ejecución el sistema genera automáticamente:</a:t>
            </a:r>
          </a:p>
          <a:p>
            <a:pPr lvl="0"/>
            <a:r>
              <a:rPr lang="es-MX" sz="1700" dirty="0"/>
              <a:t>-Base de datos SQLite.</a:t>
            </a:r>
          </a:p>
          <a:p>
            <a:pPr lvl="0"/>
            <a:r>
              <a:rPr lang="es-MX" sz="1700" dirty="0"/>
              <a:t>-Roles Alumno, Administrador y SuperAdministrador.</a:t>
            </a:r>
          </a:p>
          <a:p>
            <a:pPr lvl="0"/>
            <a:r>
              <a:rPr lang="es-MX" sz="1700" dirty="0"/>
              <a:t>-Datos semilla iniciales.</a:t>
            </a:r>
          </a:p>
          <a:p>
            <a:pPr lvl="0"/>
            <a:r>
              <a:rPr lang="es-MX" sz="1700" dirty="0"/>
              <a:t>-Claves de protección.</a:t>
            </a:r>
          </a:p>
          <a:p>
            <a:pPr lvl="0"/>
            <a:r>
              <a:rPr lang="es-MX" sz="1700" dirty="0"/>
              <a:t>-Estructura de almacenamiento.</a:t>
            </a:r>
          </a:p>
          <a:p>
            <a:pPr lvl="0"/>
            <a:r>
              <a:rPr lang="es-MX" sz="1700" dirty="0"/>
              <a:t>-Primer SuperAdministrador.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8280E58-F18B-6B93-20C8-8E420E177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06" y="619432"/>
            <a:ext cx="6172200" cy="28095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F48E661-C22F-D8F9-DB21-03C76E37E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06" y="3429000"/>
            <a:ext cx="6172200" cy="294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6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8C5F0A-1785-CEF7-7970-E1180D1F8009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Panel del superadministrador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036143-CC41-B3D9-74DC-4F5017366CF3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10-Entrar al panel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Inicia sesión con la cuenta de SuperAdministrador. El Dashboard muestra cuentas pendientes, revisiones y publicaciones.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11-Ubicar las opciones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el menú izquierdo encontrarás Usuarios, Proyectos, Revisiones, Publicaciones y Noticias. La sección Configuración reúne los catálogos, administradores, almacenamiento y bitácora.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12-Seguir el recorrido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Configura los catálogos y las cuentas antes del registro de proyectos. El SuperAdministrador también puede realizar las acciones del apartado Administrador de este manual.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ED2600-795C-994E-E4FD-F7ECD3E21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82789B-2036-2684-263B-AF0D85476B43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Dashboard y menú de administración.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12D114-712B-DB8F-EA24-D77DDA6C67C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3 / 77</a:t>
            </a:r>
          </a:p>
        </p:txBody>
      </p:sp>
    </p:spTree>
    <p:extLst>
      <p:ext uri="{BB962C8B-B14F-4D97-AF65-F5344CB8AC3E}">
        <p14:creationId xmlns:p14="http://schemas.microsoft.com/office/powerpoint/2010/main" val="107341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C80498-0B63-DA9F-9089-F1B28C8356F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Crear una carrera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B7BBCB-74FD-9283-FC50-02F3CD25486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13-Abrir Carreras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Carreras en Configuración y pulsa Nueva carrera.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14-Capturar los datos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el nombre completo y la clave. En el ejemplo: Ingeniería en Sistemas Inteligentes, clave ISI.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15-Guardar la carrera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Crear carrera y verifica que aparezca en el listado. La carrera estará disponible para el registro de alumnos.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8874D6-8D3A-5AAB-D4C6-876C361AB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1CA5E2-E73F-722C-1EBC-FA9FBA738FB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Formulario de alta de Ingeniería en Sistemas Inteligentes.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C4BED9-27EA-9471-FEB5-1A0D51FC82D9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4 / 77</a:t>
            </a:r>
          </a:p>
        </p:txBody>
      </p:sp>
    </p:spTree>
    <p:extLst>
      <p:ext uri="{BB962C8B-B14F-4D97-AF65-F5344CB8AC3E}">
        <p14:creationId xmlns:p14="http://schemas.microsoft.com/office/powerpoint/2010/main" val="119644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DACF094-1834-C796-CD9D-3B4E747C4C7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Editar una carrera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0EF88D-AF6F-27C8-7581-0285030C8ABC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16-Seleccionar Editar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Desde el listado de Carreras abre la carrera que deseas actualizar.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17-Modificar la información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Corrige el nombre o la clave. Usa Disponible para registro para activar o desactivar su selección en nuevos formularios.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18-Guardar y comprobar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cambios. Conserva las carreras utilizadas por alumnos y proyectos para mantener su historial.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791FF7-4A50-6F4E-C653-5BD9ADD14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71246BE-C073-A3FD-8E2C-9DF787BBC3DE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Edición del nombre, clave y disponibilidad de una carrera.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0F429D-691F-4215-75A0-74F0DA6860B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5 / 77</a:t>
            </a:r>
          </a:p>
        </p:txBody>
      </p:sp>
    </p:spTree>
    <p:extLst>
      <p:ext uri="{BB962C8B-B14F-4D97-AF65-F5344CB8AC3E}">
        <p14:creationId xmlns:p14="http://schemas.microsoft.com/office/powerpoint/2010/main" val="37029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3807E30-67B1-57EE-78C8-BA809E792C4B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Crear materias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C7FA7D-F231-7A14-916F-9274F509B97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19-Abrir Catálogos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Configuración selecciona Catálogos y ubica Materias.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20-Definir la materia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Captura Nueva materia, Clave y Carrera. Ejemplo: Sistemas embebidos, ISI-SE-501, Ingeniería en Sistemas Inteligentes.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21-Agregar y verificar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Agregar. Los alumnos de esa carrera podrán seleccionarla al registrar un proyecto.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802BF0-4EC3-25CE-A92E-0C64B72AA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FD85B3C-2091-919C-32FF-76D701D083C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Materia Sistemas embebidos vinculada a la carrera ISI.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8E253A-D52C-BB27-2CB9-8708EB1B2971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6 / 77</a:t>
            </a:r>
          </a:p>
        </p:txBody>
      </p:sp>
    </p:spTree>
    <p:extLst>
      <p:ext uri="{BB962C8B-B14F-4D97-AF65-F5344CB8AC3E}">
        <p14:creationId xmlns:p14="http://schemas.microsoft.com/office/powerpoint/2010/main" val="38771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03067D-A203-2F70-4089-499BD9FEDB4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Editar y buscar catálogos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81A197-0CD5-4F3F-35D7-71EE17006DEF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22-Buscar una opción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su nombre o clave en Buscar dentro de los catálogos. La búsqueda reduce las filas mostradas.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23-Editar la fila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Modifica los campos del registro y pulsa Guardar en esa misma fila.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24-Cambiar su disponibilidad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Desmarca Activa o Activo y guarda para retirarlo de nuevas selecciones. Vuelve a marcarlo y guarda para habilitarlo. Uso indica las referencias existentes.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52A2D6-F83C-CBA9-9DB7-3721EECBA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2FDDC1-390D-7D39-4454-8B2292A03C4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Edición de una materia y casilla Activa.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A7B9F3-E673-5BE9-D93E-54E9B1ED30E4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7 / 77</a:t>
            </a:r>
          </a:p>
        </p:txBody>
      </p:sp>
    </p:spTree>
    <p:extLst>
      <p:ext uri="{BB962C8B-B14F-4D97-AF65-F5344CB8AC3E}">
        <p14:creationId xmlns:p14="http://schemas.microsoft.com/office/powerpoint/2010/main" val="212636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4263CB-D1E3-AF85-529D-8FD7AF80CF1B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Crear el periodo escolar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169186-76E4-3568-6400-DD8400B56C7E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25-Ubicar Ciclos escolares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Dentro de Catálogos baja hasta Ciclos escolares. Aquí se administran los periodos utilizados en los proyectos.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26-Capturar el periodo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Agosto-Diciembre 2026. Indica Inicio y Fin si cuentas con las fechas; estos campos son opcionales.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27-Guardar el ciclo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Agregar. Comprueba el nombre, las fechas y la casilla Activo en la fila creada.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62633B-2259-B053-8294-F861C90C5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DD4E67-016C-D08D-F430-F4C1BBA979A6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Alta del ciclo Agosto-Diciembre 2026.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9057EB-3441-DF46-766F-4BC674EC0DAF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8 / 77</a:t>
            </a:r>
          </a:p>
        </p:txBody>
      </p:sp>
    </p:spTree>
    <p:extLst>
      <p:ext uri="{BB962C8B-B14F-4D97-AF65-F5344CB8AC3E}">
        <p14:creationId xmlns:p14="http://schemas.microsoft.com/office/powerpoint/2010/main" val="187659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F9FC250-9023-306A-5767-BD18591DE24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Tipos de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54579B1-29B0-D01A-5FA9-17964BC3F70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28-Ubicar Tipos de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Catálogos busca la sección que clasifica las propuestas.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29-Agregar una clasificación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el nombre y una descripción breve. Ejemplo: Prototipo tecnológico, con desarrollo y validación de un prototipo funcional.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30-Administrar las opciones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Agregar. En las filas existentes puedes cambiar nombre, descripción y disponibilidad; confirma cada cambio con Guardar.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63B515-9C0C-97F1-1A46-918AD2CE6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1AA0917-9496-15AC-3A87-E7004A0D9EB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Alta de Prototipo tecnológico.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68F264-96A3-5273-CE05-ECD39B0DE702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9 / 77</a:t>
            </a:r>
          </a:p>
        </p:txBody>
      </p:sp>
    </p:spTree>
    <p:extLst>
      <p:ext uri="{BB962C8B-B14F-4D97-AF65-F5344CB8AC3E}">
        <p14:creationId xmlns:p14="http://schemas.microsoft.com/office/powerpoint/2010/main" val="15761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FCA15F-687C-763F-581A-0C82C0112F1E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Requisitos de revisión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4D8F47-D70C-1F74-31A7-90D7234A9FF7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31-Ubicar Requisitos de revisión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Estos requisitos estarán disponibles cuando un administrador solicite correcciones.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32-Capturar el requisito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nombre, descripción y orden. Ejemplo: Validación del prototipo; incluir resultados de pruebas, medidas y conclusiones.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33-Agregar y mantener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Agregar. Usa Orden para organizar la lista y Activo para decidir si el requisito puede seleccionarse.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D765B7-FB66-69F6-3DBA-46CBD3AD4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A460B0B-4C1F-6B7A-0F35-B0372F1A987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Requisito Validación del prototipo.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5B9E60-A276-E428-7056-40AE2CD8410F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10 / 77</a:t>
            </a:r>
          </a:p>
        </p:txBody>
      </p:sp>
    </p:spTree>
    <p:extLst>
      <p:ext uri="{BB962C8B-B14F-4D97-AF65-F5344CB8AC3E}">
        <p14:creationId xmlns:p14="http://schemas.microsoft.com/office/powerpoint/2010/main" val="169664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343AE31-F7AE-A3C4-BE79-7EF0B64FFBEA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Grados y grupos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9EE7FF-3AD4-7567-D932-7E063A300FE5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34-Crear el grado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Grados escribe Quinto semestre, asigna su orden y pulsa Agregar grado.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35-Crear el grupo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Grupos escribe ISI-5A, indica el orden y pulsa Agregar grupo.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36-Actualizar los registros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Edita cada fila y pulsa Guardar. Desactiva las opciones que dejarán de usarse; los datos anteriores conservan sus referencias.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F9A205-5C4E-584E-7EA6-2130A3725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DC0D342-B52E-23B6-AD1E-8A6A40DEF3C3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Alta del grupo ISI-5A; los grados se administran en la sección anterior.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6ABCA4-81AC-AD0F-C9D2-0B8F5EA26367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11 / 77</a:t>
            </a:r>
          </a:p>
        </p:txBody>
      </p:sp>
    </p:spTree>
    <p:extLst>
      <p:ext uri="{BB962C8B-B14F-4D97-AF65-F5344CB8AC3E}">
        <p14:creationId xmlns:p14="http://schemas.microsoft.com/office/powerpoint/2010/main" val="251701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CDFEBD-DB46-95CD-1350-C6132F7FBFFC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Crear administradores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0005C7-9D19-B1DD-344F-A86988C426FE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37-Abrir Administradores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Administradores y pulsa Crear administrador.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38-Completar el formulario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Captura nombre completo, identificador administrativo y correo. Cada identificador y correo debe ser único.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39-Crear la cuenta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Crear cuenta administrativa. El sistema genera una contraseña temporal y obliga a cambiarla al ingresar.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E678B3-D8C5-9FB2-C3E7-61ECE08B4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AA66A92-8909-EB75-8592-817C80118246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Alta de Elena Torres García como administradora.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275207-2D26-7976-6432-65D924695757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12 / 77</a:t>
            </a:r>
          </a:p>
        </p:txBody>
      </p:sp>
    </p:spTree>
    <p:extLst>
      <p:ext uri="{BB962C8B-B14F-4D97-AF65-F5344CB8AC3E}">
        <p14:creationId xmlns:p14="http://schemas.microsoft.com/office/powerpoint/2010/main" val="36828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AE1F16E-868C-8820-9AEC-B9AAF7A572A0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Entregar el acceso inicial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4751F2-93CA-2677-EAF8-B0C452E1E1F8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40-Registrar la contraseña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contraseña temporal aparece una sola vez en el aviso superior. Entrégala al administrador junto con su correo o identificador.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41-Consultar las cuentas de práctica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Las credenciales creadas para este manual se encuentran en imagenes-manual/credenciales-usuarios.md.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42-Completar el primer acceso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administrador debe iniciar sesión con la clave temporal y establecer su contraseña definitiva antes de usar el panel.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F50B66-2B3D-6406-7955-DE6DFAD28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04DD895-36E2-8321-F0F7-BDAA92019C57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Aviso de creación y contraseña temporal de un solo despliegue.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93886C-1995-554B-5A7E-7591EB5537AF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13 / 77</a:t>
            </a:r>
          </a:p>
        </p:txBody>
      </p:sp>
    </p:spTree>
    <p:extLst>
      <p:ext uri="{BB962C8B-B14F-4D97-AF65-F5344CB8AC3E}">
        <p14:creationId xmlns:p14="http://schemas.microsoft.com/office/powerpoint/2010/main" val="2253944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832C5D-7E8F-2E74-0BCD-010848157504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Bloquear y desbloquear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7BF096-BCB7-F959-E6C4-5B93D0C06C16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43-Localizar al administrador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Busca por nombre, identificador o correo. También puedes filtrar por Activo, Bloqueado o Eliminado.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44-Bloquear el acceso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cuenta activa pulsa Bloquear y confirma. La cuenta conserva su información y queda sin acceso.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45-Restablecer el acceso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la cuenta bloqueada pulsa Desbloquear y confirma. Verifica que vuelva al estado Activo.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B00217-E543-EC55-04ED-E9B3B93A7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69C993-5DD1-BFFA-D8E9-E95428164F0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Cuenta administrativa de prueba en estado Bloqueado.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C4FAAB-31D7-F466-E73A-E55BA71D464F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14 / 77</a:t>
            </a:r>
          </a:p>
        </p:txBody>
      </p:sp>
    </p:spTree>
    <p:extLst>
      <p:ext uri="{BB962C8B-B14F-4D97-AF65-F5344CB8AC3E}">
        <p14:creationId xmlns:p14="http://schemas.microsoft.com/office/powerpoint/2010/main" val="87322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F04EAED-2AAC-BB57-7384-7EF4ED3AEB40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Restablecer contraseñas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B04D0C-E0D2-D1AB-9CBA-0681F23557D5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46-Seleccionar la cuenta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Administradores ubica la cuenta activa o bloqueada y pulsa Restablecer contraseña.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47-Confirmar el restablecimiento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contraseña anterior deja de funcionar. Registra la nueva contraseña temporal que aparece en el aviso.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48-Indicar el siguiente paso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usuario debe entrar con la nueva clave temporal y cambiarla. Un restablecimiento no sustituye el desbloqueo de una cuenta bloqueada.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E6BD88-8709-CDCB-C848-92558A230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BD47BC-C7DC-980B-0F65-4D5F20971E90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Nueva credencial temporal para una cuenta administrativa.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DA2E5F-3813-316B-D8C3-A2FC8C3CE398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15 / 77</a:t>
            </a:r>
          </a:p>
        </p:txBody>
      </p:sp>
    </p:spTree>
    <p:extLst>
      <p:ext uri="{BB962C8B-B14F-4D97-AF65-F5344CB8AC3E}">
        <p14:creationId xmlns:p14="http://schemas.microsoft.com/office/powerpoint/2010/main" val="34883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E26E54-B39B-0128-1215-59F4DD533D1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Eliminar un administrador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9DCA7A-40A0-6C19-3E13-4ADB4514F71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49-Elegir Eliminar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la cuenta correspondiente pulsa Eliminar y lee la confirmación.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50-Confirmar la baja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cuenta pierde acceso y no puede reactivarse. Sus identificadores se liberan y el registro histórico se conserva.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51-Consultar el resultado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Filtra por Eliminado. Si la persona necesita volver, crea una cuenta nueva; no uses la baja para un bloqueo temporal.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963E5E-9D83-C7CA-CDC8-95AA9406C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C239C40-E80F-764B-4148-93A84DDEA7A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Registro histórico de una cuenta eliminada.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A81A5F-5277-2C48-F498-62D6CB640609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16 / 77</a:t>
            </a:r>
          </a:p>
        </p:txBody>
      </p:sp>
    </p:spTree>
    <p:extLst>
      <p:ext uri="{BB962C8B-B14F-4D97-AF65-F5344CB8AC3E}">
        <p14:creationId xmlns:p14="http://schemas.microsoft.com/office/powerpoint/2010/main" val="296386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7FAD9A-E75F-ADB7-760C-85658977229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Aprobar cuentas de alumnos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89A87A-1177-E95D-5905-E6EA4F78E88C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52-Abrir Usuarios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Los alumnos se registran desde Crear cuenta en el portal. Sus solicitudes llegan a Usuarios con estado Pendiente.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53-Verificar sus datos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nombre, matrícula, correo, carrera, grado y grupo. Busca o filtra por Pendiente si hay muchas solicitudes.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54-Pulsar Aprobar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cuenta cambia a Aprobada y puede registrar proyectos. Aprueba también a los compañeros que se agregarán como integrantes.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033067-5819-F006-532D-C4EF026E5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E8C61CF-3078-A331-9E25-D431E08961EB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Solicitudes reales de los alumnos creados para la demostración.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53BA54-0B3E-ED8C-0528-F5FD8847205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17 / 77</a:t>
            </a:r>
          </a:p>
        </p:txBody>
      </p:sp>
    </p:spTree>
    <p:extLst>
      <p:ext uri="{BB962C8B-B14F-4D97-AF65-F5344CB8AC3E}">
        <p14:creationId xmlns:p14="http://schemas.microsoft.com/office/powerpoint/2010/main" val="977750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FB63A1-FF04-1175-5FB6-E7B9A485E46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Rechazar una solicitud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EAF989-72F4-6BA4-EC3F-07FB9CFE4801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55-Revisar la solicitud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Usuarios identifica una cuenta Pendiente que no deba aprobarse.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56-Indicar la observación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Rechazar. Escribe el motivo u observación si corresponde y revisa los datos de la ventana.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57-Confirmar la acción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solicitud se elimina y el alumno puede registrarse nuevamente. Este proceso es distinto de bloquear una cuenta ya aprobada.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E2E71F-2E59-8555-EB34-8D42D2055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63E1D8-8914-270D-FDF0-91418554976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Ventana de rechazo con una observación de ejemplo.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B0F37F-6043-7A4B-EBEE-6708A0735350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18 / 77</a:t>
            </a:r>
          </a:p>
        </p:txBody>
      </p:sp>
    </p:spTree>
    <p:extLst>
      <p:ext uri="{BB962C8B-B14F-4D97-AF65-F5344CB8AC3E}">
        <p14:creationId xmlns:p14="http://schemas.microsoft.com/office/powerpoint/2010/main" val="195642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F726E2-F878-FFB1-B7F4-425B8C991FA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Gestionar accesos de alumnos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F02454-2B82-F3C3-DD2B-AE6824EDA929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58-Bloquear o desbloquear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cuenta aprobada pulsa Bloquear y confirma. Para devolverle acceso, usa Desbloquear cuando esté bloqueada.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59-Recuperar una contraseña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cuenta aprobada usa Restablecer contraseña y entrega la clave temporal. El alumno tendrá que cambiarla al iniciar sesión.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60-Eliminar una cuenta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Eliminar únicamente para darla de baja. No podrá reactivarse; deberá registrarse una cuenta nueva. Estas acciones también están disponibles para Administrador.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F6A815-4664-6D71-CA53-A2ED7CC81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D8579BA-93B1-60C4-D5AE-9D5C03CEA828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Cuenta de prueba bloqueada desde Usuarios.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E11881-8D6C-2817-7D45-EF66E90B80C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19 / 77</a:t>
            </a:r>
          </a:p>
        </p:txBody>
      </p:sp>
    </p:spTree>
    <p:extLst>
      <p:ext uri="{BB962C8B-B14F-4D97-AF65-F5344CB8AC3E}">
        <p14:creationId xmlns:p14="http://schemas.microsoft.com/office/powerpoint/2010/main" val="54851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53A1E5-318B-F698-8AB8-635378505900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la bitácora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96D0B3-FBF1-2A69-2FF3-30E3929670FF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61-Abrir Bitácora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Bitácora en Configuración para consultar la actividad registrada.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62-Aplicar los filtros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fechas, usuario, acción o entidad para localizar un evento. Revisa quién lo realizó y su descripción.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63-Recorrer los resultados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Utiliza la paginación cuando exista más de una página. Esta pantalla permite consultar el historial; no ofrece edición ni borrado de eventos.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858AB0-B216-2363-FC82-922DB3D4A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4F98D26-083D-ED4D-BDB3-5C90D25DAC9E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Historial de las acciones realizadas durante el recorrido.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ACE439-889C-F69D-D2B6-D2FF017C256F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20 / 77</a:t>
            </a:r>
          </a:p>
        </p:txBody>
      </p:sp>
    </p:spTree>
    <p:extLst>
      <p:ext uri="{BB962C8B-B14F-4D97-AF65-F5344CB8AC3E}">
        <p14:creationId xmlns:p14="http://schemas.microsoft.com/office/powerpoint/2010/main" val="1827636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DF3B1F-C34A-6BB7-C653-F275EAC235B5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Revisar almacenamiento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399E40-6869-D38C-C597-36AEFE33582B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64-Abrir Almacenamiento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Configuración selecciona Almacenamiento para consultar el estado de los archivos.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65-Revisar el diagnóstico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Comprueba las cantidades y el espacio utilizado. Examina referencias sin archivo y posibles archivos huérfanos si se reportan.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66-Conservar un respaldo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diagnóstico es de consulta y no borra archivos. Antes de una intervención utiliza el procedimiento de respaldo incluido al final del manual.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19EECF-9ECB-819A-96DE-2DB768B01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0949F92-C360-C257-9CA9-1B80E2D290C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Diagnóstico del almacenamiento del portal.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585F61-99CB-9F9E-0E72-A1590CE69293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Superadministrador · 21 / 77</a:t>
            </a:r>
          </a:p>
        </p:txBody>
      </p:sp>
    </p:spTree>
    <p:extLst>
      <p:ext uri="{BB962C8B-B14F-4D97-AF65-F5344CB8AC3E}">
        <p14:creationId xmlns:p14="http://schemas.microsoft.com/office/powerpoint/2010/main" val="200079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59DE67-9836-8E0C-05C4-522B828659A3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Crear una cuenta de alumno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8265DC-D92C-BE61-B9FC-8119E2FF13C8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67-Abrir Crear cuenta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Desde el portal público selecciona Crear cuenta. Cada integrante del equipo debe registrar su propia cuenta.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68-Completar los datos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Captura nombre, matrícula, correo, carrera, grado y grupo. Escribe y confirma una contraseña de al menos 10 caracteres con mayúscula, minúscula, número y símbolo.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69-Enviar el registro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Lee el aviso de privacidad, acepta el tratamiento local de datos y pulsa Crear mi perfil.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FFDD17-D1CF-6B60-5195-3EADCB3B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46E625-BC37-442B-0495-D787DF521C1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Registro de Ana Martínez Ruiz, responsable de EcoRiego.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148F74-2E4D-BF40-96A0-6475FE588067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22 / 77</a:t>
            </a:r>
          </a:p>
        </p:txBody>
      </p:sp>
    </p:spTree>
    <p:extLst>
      <p:ext uri="{BB962C8B-B14F-4D97-AF65-F5344CB8AC3E}">
        <p14:creationId xmlns:p14="http://schemas.microsoft.com/office/powerpoint/2010/main" val="2551289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22C5193-DA8E-1AF3-FF14-857CE3A894E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Esperar la aprobación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F41AF5-63C2-C657-373B-212573B2755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70-Comprobar el estado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Al registrarte se abre tu panel. La cuenta comienza como Pendiente hasta que administración valide los datos.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71-Revisar Mi perfil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Puedes consultar y actualizar la información personal y académica mientras esperas.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72-Continuar al ser aprobado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Cuando el estado sea Aprobada podrás crear proyectos. Solicita apoyo a administración si los catálogos o los datos necesitan corrección.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DF6548-7A95-FE1D-5A3C-99F1BD087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EB5E74-4E7F-2CB6-6022-EDFA5EADE660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Panel del alumno con cuenta Pendiente.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28CC46-FEC2-3783-6491-FBEB207FC76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23 / 77</a:t>
            </a:r>
          </a:p>
        </p:txBody>
      </p:sp>
    </p:spTree>
    <p:extLst>
      <p:ext uri="{BB962C8B-B14F-4D97-AF65-F5344CB8AC3E}">
        <p14:creationId xmlns:p14="http://schemas.microsoft.com/office/powerpoint/2010/main" val="2554741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C92865-076A-DDE3-E58D-243F4B3E461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Actualizar el perfil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5BE823-EA5C-26C6-16B0-29CF6EE76ED1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73-Entrar a Mi perfil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Mi perfil en el menú izquierdo.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74-Corregir tus datos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Actualiza nombre, correo, carrera, grado o grupo según corresponda. La matrícula no puede cambiarse desde esta pantalla.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75-Guardar los cambios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cambios y verifica el aviso de confirmación. Mantén los datos correctos antes de registrar un proyecto.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A1452A-D2F3-32B4-E10A-3418B8499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83E6C8D-101F-B465-C7A7-4D3948691D3E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Formulario de perfil académico del alumno.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6D864D-7F91-0640-4C91-D862885BD4B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24 / 77</a:t>
            </a:r>
          </a:p>
        </p:txBody>
      </p:sp>
    </p:spTree>
    <p:extLst>
      <p:ext uri="{BB962C8B-B14F-4D97-AF65-F5344CB8AC3E}">
        <p14:creationId xmlns:p14="http://schemas.microsoft.com/office/powerpoint/2010/main" val="690941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90F3158-067E-1DE6-43FA-37AEE0F493C7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Entrar a Mis proyectos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63BB60-720D-F0D7-571C-2FA63D82FBF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76-Iniciar sesión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tu matrícula o correo y contraseña. Desde Inicio consulta el estado de tu cuenta y tus proyectos.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77-Abrir Mis proyectos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esta sección aparecen los proyectos propios y aquellos en los que participas.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78-Crear un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Nuevo proyecto. La aplicación abre un borrador para que puedas completarlo y guardarlo por etapas.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980BF1-27CE-1770-5897-6A46773C7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D1BAC7-8757-2A93-E24A-D45906F7D184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Panel de una cuenta aprobada.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37374F-02F4-7275-E391-371CF23264F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25 / 77</a:t>
            </a:r>
          </a:p>
        </p:txBody>
      </p:sp>
    </p:spTree>
    <p:extLst>
      <p:ext uri="{BB962C8B-B14F-4D97-AF65-F5344CB8AC3E}">
        <p14:creationId xmlns:p14="http://schemas.microsoft.com/office/powerpoint/2010/main" val="1039962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08B227-3B60-05AE-7CA8-29E03FDD6D4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Datos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03A5F3-5E9F-F21B-4FD4-6FB729D1119F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79-Escribir el nombre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Captura un nombre descriptivo de entre 5 y 120 caracteres.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80-Seleccionar los catálogos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Elige Materia, Tipo de proyecto y Ciclo escolar. Las materias corresponden a tu carrera; si no hay opciones, solicita apoyo a administración.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81-Agregar datos de seguimiento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Indica la fecha estimada de terminación y, si corresponde, el nombre del asesor.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33B043-2BC0-56EC-F6F8-B5AC417DD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C2E4B1-9EC1-3E59-6AA6-E6125F34DDF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Identidad y clasificación del proyecto EcoRiego.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8B66F9-68D3-F313-1400-6F8E616D9FDD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26 / 77</a:t>
            </a:r>
          </a:p>
        </p:txBody>
      </p:sp>
    </p:spTree>
    <p:extLst>
      <p:ext uri="{BB962C8B-B14F-4D97-AF65-F5344CB8AC3E}">
        <p14:creationId xmlns:p14="http://schemas.microsoft.com/office/powerpoint/2010/main" val="422614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C224C55-A1B5-5FEB-EC73-651D26FC999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Problema y solución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384679-8019-F751-D381-A348CE56EFFC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82-Describir el problema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Explica la necesidad, a quién afecta y por qué debe atenderse. Al enviar, este apartado debe tener entre 100 y 3000 caracteres.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83-Describir la solución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Explica la propuesta, su funcionamiento y cómo se evaluará. También requiere entre 100 y 3000 caracteres al enviar.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84-Guardar el avance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borrador. Un borrador puede estar incompleto y todavía no llega a administración.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39EFB8-DC5D-AC1F-87FA-3AA1EE35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1074987-61E9-575C-AD21-EC54576636D7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Apartados de contenido académico.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E1D4D7-2FFB-A9B1-D44E-82AA232EF75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27 / 77</a:t>
            </a:r>
          </a:p>
        </p:txBody>
      </p:sp>
    </p:spTree>
    <p:extLst>
      <p:ext uri="{BB962C8B-B14F-4D97-AF65-F5344CB8AC3E}">
        <p14:creationId xmlns:p14="http://schemas.microsoft.com/office/powerpoint/2010/main" val="2568420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C3E047-5F12-C092-F224-30F39C03376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Adjuntar un documento PDF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508C1B-3751-914E-811A-EC5F8433756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85-Guardar primero el borrador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Completa y guarda nombre, materia, tipo y ciclo para habilitar Documentación del proyecto y Participantes.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86-Elegir el archivo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Documentación del proyecto selecciona un PDF de hasta 10 MB. En la demostración se utiliza documento_proyecto1.pdf.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87-Guardar el documento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PDF. Confirma que aparezca el nombre del archivo y la opción Ver PDF. El documento es privado.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5CE8BD-3969-FE1B-940A-202C3D01E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8D3907-4BA6-3DE6-47A9-3D8B4F3416B7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Selección del PDF de ejemplo para EcoRiego.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165E0A-7652-17BC-6029-F320B6D75A7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28 / 77</a:t>
            </a:r>
          </a:p>
        </p:txBody>
      </p:sp>
    </p:spTree>
    <p:extLst>
      <p:ext uri="{BB962C8B-B14F-4D97-AF65-F5344CB8AC3E}">
        <p14:creationId xmlns:p14="http://schemas.microsoft.com/office/powerpoint/2010/main" val="2233758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ADF944-1C55-7FE8-704E-CC8CA9D3F18B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o reemplazar el PDF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94EA58-B10F-7B20-7B23-8F0EE06474D7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88-Abrir Ver PDF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Utiliza Ver PDF para descargar o abrir el documento según la configuración de tu navegador.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89-Reemplazar el archivo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otro PDF y pulsa Guardar PDF. Confirma el reemplazo del documento vigente.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90-Eliminar en borrador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Mientras la pantalla lo permita, pulsa Eliminar PDF y confirma. Después de aprobarse el proyecto puedes actualizar el PDF sin modificar el contenido académico aprobado.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E93738-EDFC-EA2D-6D82-FB0A3AB4B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0695EB5-75DF-F40B-E53D-217675569DE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Documento adjunto y controles de administración del PDF.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14D7B9-8D1D-64BB-EFF1-1CC996B621B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29 / 77</a:t>
            </a:r>
          </a:p>
        </p:txBody>
      </p:sp>
    </p:spTree>
    <p:extLst>
      <p:ext uri="{BB962C8B-B14F-4D97-AF65-F5344CB8AC3E}">
        <p14:creationId xmlns:p14="http://schemas.microsoft.com/office/powerpoint/2010/main" val="525202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DF341C-E071-66E1-9DDF-24ABD21CB047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Buscar un integrante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C852D5-0E8C-952C-3D21-06A5ED7ED96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91-Preparar las cuentas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compañero debe tener una cuenta registrada y aprobada. Utiliza su matrícula exacta.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92-Abrir Agregar participante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el borrador guardado baja hasta Participantes y pulsa Agregar participante.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93-Buscar y comprobar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la matrícula y pulsa Buscar. Revisa que nombre y datos académicos correspondan a la persona correcta antes de confirmar.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D5BA37-FAE3-97C9-CE14-BB055C259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C29D3FE-4C2E-0105-5102-120F4E6C8E4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Búsqueda de Luis Hernández Soto por matrícula.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380F24-ACD1-BBA8-0E72-B6DCD576E4A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30 / 77</a:t>
            </a:r>
          </a:p>
        </p:txBody>
      </p:sp>
    </p:spTree>
    <p:extLst>
      <p:ext uri="{BB962C8B-B14F-4D97-AF65-F5344CB8AC3E}">
        <p14:creationId xmlns:p14="http://schemas.microsoft.com/office/powerpoint/2010/main" val="68914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64E73E-F098-2FF1-F96F-D8C9D4BB897A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Confirmar el equipo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17CBA9-C06B-E5AE-45F7-602240CA8EA3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94-Confirmar y agregar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Después de localizar al compañero pulsa Confirmar y agregar. Comprueba que aparezca en Participantes.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95-Agregar a los demás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Repite el procedimiento con cada matrícula. En este ejemplo participan Ana, Luis y Sofía. El límite configurado es de 6 personas, incluido el responsable.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96-Retirar a un compañero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Retirar junto a su nombre y confirma. El responsable principal permanece en el proyecto.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789A8F-F693-1C4D-A999-096E14615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921B287-C328-651F-032F-01EA0410610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EcoRiego con responsable y dos compañeros vinculados.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373CF5-0B93-D779-8485-B84DE3E7314C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31 / 77</a:t>
            </a:r>
          </a:p>
        </p:txBody>
      </p:sp>
    </p:spTree>
    <p:extLst>
      <p:ext uri="{BB962C8B-B14F-4D97-AF65-F5344CB8AC3E}">
        <p14:creationId xmlns:p14="http://schemas.microsoft.com/office/powerpoint/2010/main" val="287203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5ABEF6-5FAC-327C-5087-63A7B53B731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Enviar a revisión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980CC6-63B8-B502-E2D3-33CF9A36C1B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97-Revisar el contenido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Comprueba nombre, catálogos, problema, solución e integrantes. El PDF es opcional.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98-Enviar el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Enviar a revisión y confirma el mensaje. La aplicación valida los campos obligatorios.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99-Comprobar el resultado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estado cambia a Enviado. La edición queda bloqueada mientras administración realiza la revisión.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C4C5A5-CA6F-A481-2DB2-CFB452739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0E22A99-3E89-C0BD-7398-587B519A1EAD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Acciones Guardar borrador y Enviar a revisión.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652E6F-0ED8-6CFB-CC29-0B51A8BAAFB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32 / 77</a:t>
            </a:r>
          </a:p>
        </p:txBody>
      </p:sp>
    </p:spTree>
    <p:extLst>
      <p:ext uri="{BB962C8B-B14F-4D97-AF65-F5344CB8AC3E}">
        <p14:creationId xmlns:p14="http://schemas.microsoft.com/office/powerpoint/2010/main" val="830867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E32124-EEB7-6B2A-B418-CF993ED508C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Cancelar un envío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F1BFC3B-DBAD-77C0-E776-4715869528B6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100-Abrir Mis proyectos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Ubica el proyecto que acabas de enviar.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101-Usar Cancelar envío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Esta opción está disponible antes de que un administrador tome la revisión. Pulsa el botón y confirma.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102-Corregir y volver a enviar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proyecto regresa a borrador. Guarda tus ajustes y usa Enviar a revisión cuando esté listo.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EC52A9-D000-1548-8B7C-D8D736859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F42EC70-7B93-E5D0-AF03-30FAB8BB3AC0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Proyecto Enviado con la opción Cancelar envío.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44C205-D26B-7A39-207D-9CBD20F47D02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33 / 77</a:t>
            </a:r>
          </a:p>
        </p:txBody>
      </p:sp>
    </p:spTree>
    <p:extLst>
      <p:ext uri="{BB962C8B-B14F-4D97-AF65-F5344CB8AC3E}">
        <p14:creationId xmlns:p14="http://schemas.microsoft.com/office/powerpoint/2010/main" val="303753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B053D6-BA6B-D0AB-3C98-7CDCF751F549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Eliminar un borrador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3EB1B2-F55F-7F6E-AC63-28291E44B44B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103-Identificar el borrador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Mis proyectos ubica un borrador que todavía no haya pasado por una revisión.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104-Pulsar Eliminar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Lee la confirmación y asegúrate de seleccionar el proyecto correcto.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105-Verificar la eliminación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Confirma y comprueba que desaparezca del listado. Usa Guardar borrador si deseas conservar un avance para continuar después.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D3BB59-2855-DFBF-370A-F141FFD40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08999DD-AD84-FF01-865F-E8E318F87DC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Borrador de práctica que puede eliminarse.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C5DC38-D533-1461-7DD6-A484E2BA38F0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34 / 77</a:t>
            </a:r>
          </a:p>
        </p:txBody>
      </p:sp>
    </p:spTree>
    <p:extLst>
      <p:ext uri="{BB962C8B-B14F-4D97-AF65-F5344CB8AC3E}">
        <p14:creationId xmlns:p14="http://schemas.microsoft.com/office/powerpoint/2010/main" val="2719157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F0EEB6-FEC7-FBE8-BF02-7FD2B4EA6A0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como integrante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0A8856-BD1D-5176-FB52-02941F1B6ED1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106-Entrar con tu propia cuenta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Cada integrante accede con su matrícula o correo y contraseña.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107-Filtrar Como participante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Mis proyectos selecciona Como participante y abre Ver detalle.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108-Consultar el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Puedes revisar la información, el historial y la documentación. La edición del proyecto corresponde al responsable.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A5D440-3FC3-B2D4-D622-7803C690F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8688E1-7E32-24D4-C4FB-D3EFEC952DF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Vista del proyecto al entrar con la cuenta de Luis.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5A5E1B-E078-7643-2C72-F55921C88D54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35 / 77</a:t>
            </a:r>
          </a:p>
        </p:txBody>
      </p:sp>
    </p:spTree>
    <p:extLst>
      <p:ext uri="{BB962C8B-B14F-4D97-AF65-F5344CB8AC3E}">
        <p14:creationId xmlns:p14="http://schemas.microsoft.com/office/powerpoint/2010/main" val="1978350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4181C9-6F8C-9C5F-6DE5-45BF4B87A03C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Atender las correcciones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30FFF3-4081-7B1B-4652-BB9C50842D5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109-Revisar el aviso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Cuando administración solicite ajustes, el proyecto aparecerá con estado Correcciones. Consulta Notificaciones o abre Mis proyectos.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110-Leer lo solicitado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Corregir. Revisa las observaciones de la última revisión y los requisitos marcados.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111-Guardar los ajustes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Modifica los apartados necesarios y pulsa Guardar borrador. En el ejemplo se agrega un plan de pruebas y una comparación del consumo de agua.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6F00AB-F7C3-3C44-7CF2-78786B4F3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584280-2888-70DB-5FB1-B050ACCA2A20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Observaciones y requisito pendiente de la revisión de EcoRiego.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1A5ED5-6E87-5696-B861-649BE08CEAD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36 / 77</a:t>
            </a:r>
          </a:p>
        </p:txBody>
      </p:sp>
    </p:spTree>
    <p:extLst>
      <p:ext uri="{BB962C8B-B14F-4D97-AF65-F5344CB8AC3E}">
        <p14:creationId xmlns:p14="http://schemas.microsoft.com/office/powerpoint/2010/main" val="834470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070B8B-C927-707A-F227-CDA9B295CE8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Reenviar 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6DC082-0AFB-6E59-7109-370C379FA0A6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112-Comprobar las correcciones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Verifica que hayas atendido las observaciones y actualizado la documentación cuando corresponda.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113-Pulsar Reenviar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Confirma el envío. El proyecto cambia a Reenviado y vuelve a la cola administrativa.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114-Consultar el historial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Ver detalle puedes seguir las revisiones y sus decisiones. La edición vuelve a quedar bloqueada durante la revisión.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CF2FDF-D2AF-3E03-7E2E-F6FC56A4C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7F801CF-250F-FF1B-5497-C1DCA6800E2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Proyecto reenviado después de atender las observaciones.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05CEE4-00AD-2C16-229F-47CE3B5BCAC1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37 / 77</a:t>
            </a:r>
          </a:p>
        </p:txBody>
      </p:sp>
    </p:spTree>
    <p:extLst>
      <p:ext uri="{BB962C8B-B14F-4D97-AF65-F5344CB8AC3E}">
        <p14:creationId xmlns:p14="http://schemas.microsoft.com/office/powerpoint/2010/main" val="4187928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B42D4E-5840-A965-C34E-789CE5A9E6C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la aprobación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DBD44C-1ECF-337F-08B5-950C92A0A35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115-Abrir el resultado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Consulta la notificación o entra a Mis proyectos y selecciona Ver detalle.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116-Revisar la decisión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estado Aprobado confirma la aceptación académica. La publicación en el portal la realiza administración en un paso posterior.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117-Mantener los anexos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responsable puede gestionar los participantes y actualizar el PDF desde el detalle aprobado. Los campos académicos quedan de consulta.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3AA0FD-E60C-9279-B085-42D970713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48036DF-E2B6-538B-9DF8-1380B6DE2A3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Detalle del proyecto con estado Aprobado.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DA918B-D696-64E9-B776-C91DB377FDD8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38 / 77</a:t>
            </a:r>
          </a:p>
        </p:txBody>
      </p:sp>
    </p:spTree>
    <p:extLst>
      <p:ext uri="{BB962C8B-B14F-4D97-AF65-F5344CB8AC3E}">
        <p14:creationId xmlns:p14="http://schemas.microsoft.com/office/powerpoint/2010/main" val="3741436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580B6F-3BB2-CB81-05B0-60B9583FF0E0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Actualizar el PDF aprobado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342AA0-A485-6E42-6EF3-D148D7734477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118-Abrir el detalle aprobado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Como responsable, entra a Ver detalle y localiza Documentación del proyecto.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119-Seleccionar la versión reciente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Elige un PDF de hasta 10 MB y pulsa Guardar PDF. Confirma el reemplazo del archivo vigente.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120-Verificar la actualización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Utiliza Ver PDF para comprobar el archivo. Esta operación conserva la aprobación académica y no abre una nueva revisión.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332FE7-0EA4-3196-CC66-90A8B30BF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90AEFD-3E12-6FAE-2AD7-32FE8D66651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Reemplazo del documento de un proyecto aprobado.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261BDF-A7A9-7D85-18D9-EABF045DE4C0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39 / 77</a:t>
            </a:r>
          </a:p>
        </p:txBody>
      </p:sp>
    </p:spTree>
    <p:extLst>
      <p:ext uri="{BB962C8B-B14F-4D97-AF65-F5344CB8AC3E}">
        <p14:creationId xmlns:p14="http://schemas.microsoft.com/office/powerpoint/2010/main" val="840521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571B99-F717-99AB-6EA2-F0359BE7B09A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un rechazo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94DE5E-949D-6970-E7E4-57D5E74C888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121-Abrir el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Mis proyectos filtra por Rechazado y pulsa Ver detalle.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122-Leer el motivo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Consulta la decisión y el historial para conocer las observaciones del administrador.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123-Preparar otra propuesta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Un rechazo no habilita la edición del proyecto. Si debes presentar otra propuesta, crea un proyecto nuevo siguiendo las indicaciones académicas.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C0AE98-F54A-CA4D-AF71-CC856C661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E484DAA-FA05-90BE-3B15-1FC7B1763E7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Propuesta de agenda escolar rechazada por falta de correspondencia con la materia.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692CDC-D70E-3F7D-3690-FA52AF4B48D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40 / 77</a:t>
            </a:r>
          </a:p>
        </p:txBody>
      </p:sp>
    </p:spTree>
    <p:extLst>
      <p:ext uri="{BB962C8B-B14F-4D97-AF65-F5344CB8AC3E}">
        <p14:creationId xmlns:p14="http://schemas.microsoft.com/office/powerpoint/2010/main" val="1871233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7B3288-859D-E279-2C06-38874964FF4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Usar las notificaciones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372AE0-6ECC-77D3-5A9F-DD0DE91A0A8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124-Abrir el centro de avisos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la campana o selecciona Notificaciones. Los avisos se conservan aunque no estuvieras conectado.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125-Consultar una actividad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Abrir para ir al proyecto o sección relacionada. Puedes filtrar por Todas o No leídas.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126-Marcar los avisos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Marcar leída en un aviso o Marcar todas como leídas. Revisa el filtro No leídas para comprobar los pendientes.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720E42-F2FC-6F6B-B2C0-B1AA24CD6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BB5301-FAC9-C499-F1AA-CBF72CF9982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Avisos de revisión y aprobación guardados para el alumno.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D71940-0101-4B47-FD7F-428876CF97D2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41 / 77</a:t>
            </a:r>
          </a:p>
        </p:txBody>
      </p:sp>
    </p:spTree>
    <p:extLst>
      <p:ext uri="{BB962C8B-B14F-4D97-AF65-F5344CB8AC3E}">
        <p14:creationId xmlns:p14="http://schemas.microsoft.com/office/powerpoint/2010/main" val="3641037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D754775-1807-07EC-E8D2-FE3439B2972B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Dar o quitar Me gusta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FB59AB-4D2D-A209-C476-03D8A100944C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127-Abrir un proyecto publicado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Inicia sesión con una cuenta de alumno aprobada y entra al catálogo público de Proyectos.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128-Pulsar el corazón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el detalle y pulsa Me gusta. El corazón y el contador reflejan tu selección.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129-Retirar la reacción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nuevamente el corazón para quitar tu Me gusta. La cuenta registra una sola reacción por proyecto.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0D17B2-C8CA-1FDA-9F40-80EFEE061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1BA3F0-3045-275B-DE9C-AA2E3AF0336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Interacción de una cuenta aprobada con un proyecto público.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4A831C-575F-7269-938D-967D98136A1D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42 / 77</a:t>
            </a:r>
          </a:p>
        </p:txBody>
      </p:sp>
    </p:spTree>
    <p:extLst>
      <p:ext uri="{BB962C8B-B14F-4D97-AF65-F5344CB8AC3E}">
        <p14:creationId xmlns:p14="http://schemas.microsoft.com/office/powerpoint/2010/main" val="3934031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8BEC4A-374D-0ACD-E70A-1340CBBD9D7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Contraseña y cierre de sesión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6CD1E0-756E-9CCA-AAD0-0E8AA4C98F2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130-Cambiar la contraseña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 sesión iniciada abre /cuenta/cambiar-contrasena en la dirección del portal. Escribe la contraseña actual, la nueva y su confirmación.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131-Guardar la nueva clave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contraseña y continuar. Si recibiste una clave temporal, este paso se solicita automáticamente al ingresar.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132-Cerrar la sesión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Al terminar selecciona Cerrar sesión. Si olvidaste tu clave, solicita a administración un restablecimiento.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2AD720-F38E-42DA-2235-B9A46DE33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5BBE086-955C-BCB6-B100-F02FBE7AF567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Formulario para cambiar la contraseña de una cuenta.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74A434-0F1B-A0B0-8F51-565724B0CBB3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Alumno · 43 / 77</a:t>
            </a:r>
          </a:p>
        </p:txBody>
      </p:sp>
    </p:spTree>
    <p:extLst>
      <p:ext uri="{BB962C8B-B14F-4D97-AF65-F5344CB8AC3E}">
        <p14:creationId xmlns:p14="http://schemas.microsoft.com/office/powerpoint/2010/main" val="35667532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1C647B-2FEE-D0D0-36AA-679A0039CBCA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Primer acceso del administrador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1E2C67-D9A4-ACFF-B643-4B628655D8C3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133-Recibir las credenciales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SuperAdministrador crea tu cuenta y te entrega el identificador o correo y la contraseña temporal.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134-Establecer la contraseña definitiva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Inicia sesión, escribe la clave temporal en Contraseña actual e indica y confirma tu nueva contraseña.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135-Entrar al panel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contraseña y continuar. El menú muestra Usuarios, Proyectos, Revisiones, Notificaciones, Publicaciones y Noticias.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69DEEB-C160-198C-21C5-72847FE96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780115A-AE71-DEFE-56C5-D1CB8CEE4AA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Cambio obligatorio de la contraseña temporal de Elena.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9E4EA1-9F95-B0BD-2748-C613D89470D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44 / 77</a:t>
            </a:r>
          </a:p>
        </p:txBody>
      </p:sp>
    </p:spTree>
    <p:extLst>
      <p:ext uri="{BB962C8B-B14F-4D97-AF65-F5344CB8AC3E}">
        <p14:creationId xmlns:p14="http://schemas.microsoft.com/office/powerpoint/2010/main" val="384518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23E35C-244E-4928-7C76-27E5E9BE1DC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Panel y gestión de alumnos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704010-D1FE-67A2-CAD2-99C01E130D75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136-Consultar el Dashboard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los indicadores de cuentas pendientes, proyectos por tomar y publicaciones.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137-Administrar Usuarios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Desde Usuarios puedes aprobar o rechazar solicitudes, bloquear o desbloquear cuentas y restablecer contraseñas. Sigue el procedimiento del apartado Superadministrador.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138-Priorizar las revisiones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Revisiones para atender proyectos enviados o reenviados. Proyectos permite consultar también los que ya tienen una decisión.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1D18B4-E8CB-4EE6-DBA3-4DAEDED5F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CE20BEA-1914-31BB-EFFF-AB101A21602B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Dashboard con proyectos, cuentas y publicaciones de la demostración.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F42C17-CD34-8FE5-9919-506D50AE0453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45 / 77</a:t>
            </a:r>
          </a:p>
        </p:txBody>
      </p:sp>
    </p:spTree>
    <p:extLst>
      <p:ext uri="{BB962C8B-B14F-4D97-AF65-F5344CB8AC3E}">
        <p14:creationId xmlns:p14="http://schemas.microsoft.com/office/powerpoint/2010/main" val="2588799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C327AB-1DA8-52FF-11B7-3AF918FA8BB5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Buscar proyectos para revisar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3FBAB4-8F2B-C9BB-5F6B-74376151432B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139-Abrir Revisiones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Entra desde el menú o desde Revisar proyectos en el Dashboard.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140-Aplicar filtros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Busca por nombre y utiliza los filtros de estado, carrera, materia y ciclo para localizar la propuesta.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141-Consultar la ficha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el proyecto y revisa responsable, clasificación académica, problema, solución e integrantes. Si hay documentación, utiliza Ver PDF.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EA020B-CAAE-7D7F-39E2-AD332BF6E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F0D271A-5AA2-EF73-7EDC-C6E246E3C42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Cola con los proyectos enviados por los alumnos.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ED8A9A-F7D9-1A42-B746-90179F3CF02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46 / 77</a:t>
            </a:r>
          </a:p>
        </p:txBody>
      </p:sp>
    </p:spTree>
    <p:extLst>
      <p:ext uri="{BB962C8B-B14F-4D97-AF65-F5344CB8AC3E}">
        <p14:creationId xmlns:p14="http://schemas.microsoft.com/office/powerpoint/2010/main" val="1239335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2914E0-E6B7-B29C-7F89-25F0424F08D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Tomar una revisión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42E41F-A931-A01E-6F96-C9CA26D36DC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142-Abrir un proyecto disponible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Control de revisión verifica que aparezca Tomar revisión.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143-Tomar la asignación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Tomar revisión. El proyecto cambia a En revisión y queda asignado a tu cuenta.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144-Elegir la decisión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el contenido antes de Aprobar, Solicitar correcciones o Rechazar. Sólo el administrador asignado puede decidir esa revisión.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EE520E-1721-0662-82DC-4EFFB094C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BF2FB24-3EED-7733-AFEF-AAEEB3E0C75C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Revisión asignada a la administradora que la tomó.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4F1258-4F5F-C95F-0013-3EB8D4ED34D4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47 / 77</a:t>
            </a:r>
          </a:p>
        </p:txBody>
      </p:sp>
    </p:spTree>
    <p:extLst>
      <p:ext uri="{BB962C8B-B14F-4D97-AF65-F5344CB8AC3E}">
        <p14:creationId xmlns:p14="http://schemas.microsoft.com/office/powerpoint/2010/main" val="3804964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681F31-7643-96D3-09C8-51F257A4AD4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Revisión de otro administrador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DB8489-3C86-0593-7759-7E5FA74A409E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145-Consultar el responsable de revisión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Si otro administrador tomó el proyecto, Control de revisión muestra su nombre.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146-Respetar la asignación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Puedes consultar la información, pero no emitir una decisión en su lugar.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147-Atender otra propuesta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Regresa a Revisiones y selecciona un proyecto disponible. Evita que dos personas intenten resolver la misma revisión.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05C5FA-5270-EA83-594B-CB654FFC8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0786939-4A57-62FC-2CEB-DADE8D19BAD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Ricardo consulta un proyecto cuya revisión está asignada a Elena.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F734D7-6BAC-6484-8061-211B601D0099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48 / 77</a:t>
            </a:r>
          </a:p>
        </p:txBody>
      </p:sp>
    </p:spTree>
    <p:extLst>
      <p:ext uri="{BB962C8B-B14F-4D97-AF65-F5344CB8AC3E}">
        <p14:creationId xmlns:p14="http://schemas.microsoft.com/office/powerpoint/2010/main" val="42792898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F52BC47-EDED-E8AC-5551-5B7000786210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Solicitar correcciones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C97C8A-5E0B-3C18-F2C6-516981BA945F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148-Abrir Solicitar correcciones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revisión asignada a ti pulsa Solicitar correcciones.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149-Precisar los ajustes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observaciones claras y marca los requisitos pendientes. Debe existir al menos una observación o un requisito seleccionado.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150-Enviar las correcciones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Enviar correcciones. El alumno recibe el aviso y puede corregir el proyecto antes de reenviarlo.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31F682-14B6-0143-75F3-E19744D95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C480D7-52DF-6F08-9561-478BC46EC01E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Observaciones y requisito pendiente seleccionados por administración.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FD1EB8-1027-FE19-9D60-6612A1B58BC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49 / 77</a:t>
            </a:r>
          </a:p>
        </p:txBody>
      </p:sp>
    </p:spTree>
    <p:extLst>
      <p:ext uri="{BB962C8B-B14F-4D97-AF65-F5344CB8AC3E}">
        <p14:creationId xmlns:p14="http://schemas.microsoft.com/office/powerpoint/2010/main" val="14712720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85A84EB-6697-84AB-0994-4031B97B441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Revisar un reenvío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71D450-7458-A1B7-A51D-E1EF649D5BD5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151-Buscar Reenviado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Revisiones localiza el proyecto que el alumno volvió a enviar.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152-Tomar la nueva revisión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la ficha y pulsa Tomar revisión para asignártela.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153-Comparar las observaciones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el contenido actualizado, el historial y los requisitos solicitados. Después emite la decisión correspondiente.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1A65D4-2B16-2BB9-DB82-E8B891E95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9CA5686-4D68-FF70-B5BA-D7C30F382D1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EcoRiego regresa a la cola con estado Reenviado.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E2DFB5-1D18-8B6C-7ABB-6C05FCC5E88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50 / 77</a:t>
            </a:r>
          </a:p>
        </p:txBody>
      </p:sp>
    </p:spTree>
    <p:extLst>
      <p:ext uri="{BB962C8B-B14F-4D97-AF65-F5344CB8AC3E}">
        <p14:creationId xmlns:p14="http://schemas.microsoft.com/office/powerpoint/2010/main" val="3621910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D9C9FD-98E0-551D-10CC-5060A84B61EC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Aprobar un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3CB871-9594-44B6-D3B9-8825B1F67DB0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154-Pulsar Aprobar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Desde una revisión asignada a ti selecciona Aprobar.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155-Agregar una nota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La nota es opcional. Puedes indicar que se atendieron los requisitos o explicar el resultado de la revisión.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156-Confirmar la aprobación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Aprobar en la ventana. El proyecto queda Aprobado; para hacerlo visible debes continuar en Publicaciones.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B7DA91-03CD-06FA-7CDC-1CF309899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F20E56D-64DA-2D90-4CB5-CB75348688C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Confirmación de aprobación con una nota de revisión.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B188EF-CC5E-0998-AEB7-55FD7ABA934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51 / 77</a:t>
            </a:r>
          </a:p>
        </p:txBody>
      </p:sp>
    </p:spTree>
    <p:extLst>
      <p:ext uri="{BB962C8B-B14F-4D97-AF65-F5344CB8AC3E}">
        <p14:creationId xmlns:p14="http://schemas.microsoft.com/office/powerpoint/2010/main" val="5438394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F7FBFA-1578-F878-FB7F-27EF4A3F987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Rechazar un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746F62-2499-CB6D-8DAF-EC085B6AEDAC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157-Seleccionar Rechazar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la revisión asignada a ti y pulsa Rechazar.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158-Explicar el motivo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Aunque la observación es opcional, indica por qué la propuesta no puede aceptarse y qué debe considerar el alumno.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159-Confirmar el rechazo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Rechazar. El alumno podrá consultar el resultado y el historial. Si sólo requiere ajustes, utiliza Solicitar correcciones.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557169-0EB2-1200-DC4F-35ABCBE14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5DB9C8-4D84-7487-E058-FB1C3E87AF3E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Rechazo de una propuesta de ejemplo.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377941-FDC1-BF00-1E4A-2CDC64F51544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52 / 77</a:t>
            </a:r>
          </a:p>
        </p:txBody>
      </p:sp>
    </p:spTree>
    <p:extLst>
      <p:ext uri="{BB962C8B-B14F-4D97-AF65-F5344CB8AC3E}">
        <p14:creationId xmlns:p14="http://schemas.microsoft.com/office/powerpoint/2010/main" val="21969408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B81F03-CA3C-8B64-F6A1-4DDAE22BAD0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Terminar o reabrir proyectos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470E0D-6182-0E6C-8C3C-7C27808F6D8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160-Abrir un proyecto aprobado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Proyectos entra a su ficha. El desarrollo se administra después de la aprobación.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161-Marcarlo como terminado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Terminar proyecto y confirma. El estado de desarrollo cambia de En proceso a Terminado.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162-Reabrir si corresponde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Reabrir proyecto y confirma para volver a En proceso. Estas acciones conservan la aprobación del contenido académico.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E0C600-2725-6263-7A0C-06084BEFA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E8DAA4-FE42-28D5-2751-02FD33C1F09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Proyecto aprobado marcado como Terminado.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B1650E-A650-4B45-BAC5-E8F54A6BF879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53 / 77</a:t>
            </a:r>
          </a:p>
        </p:txBody>
      </p:sp>
    </p:spTree>
    <p:extLst>
      <p:ext uri="{BB962C8B-B14F-4D97-AF65-F5344CB8AC3E}">
        <p14:creationId xmlns:p14="http://schemas.microsoft.com/office/powerpoint/2010/main" val="4055057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688107-DA14-76AB-FCA7-B15C5AC2B54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Preparar una publicación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1B677F-A2C1-7888-0726-09F9B7C9B13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163-Abrir Publicaciones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Publicaciones y abre el proyecto aprobado que deseas mostrar.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164-Elegir la versión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Versión pública selecciona una versión aprobada. Aprobar una versión no la publica ni sustituye automáticamente la versión pública vigente.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165-Revisar la presentación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Comprueba la vista previa de la tarjeta. Puedes agregar una portada y una galería antes de publicar.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E4ED44-D654-1FCA-E470-A9C3EC06C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1B8AAA7-55FC-BE0E-D5A7-D2BF4C48C07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Pantalla de publicación de un proyecto aprobado.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2B01EE-0B0B-4BB2-01FE-5CAF1F5FD318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54 / 77</a:t>
            </a:r>
          </a:p>
        </p:txBody>
      </p:sp>
    </p:spTree>
    <p:extLst>
      <p:ext uri="{BB962C8B-B14F-4D97-AF65-F5344CB8AC3E}">
        <p14:creationId xmlns:p14="http://schemas.microsoft.com/office/powerpoint/2010/main" val="12199052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2199A1-0CD3-64E2-98FF-F0EE15681DB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Subir imágenes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4E7353-9800-B940-90A8-F37C35F01584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166-Seleccionar la imagen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Portada y galería elige un archivo JPG, PNG o WebP de hasta 5 MB.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167-Describir su contenido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un texto alternativo que explique la imagen para facilitar su identificación y accesibilidad.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168-Subir y repetir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Subir imagen y verifica la miniatura. Repite para agregar más imágenes. Los archivos de ejemplo están en imagenes-manual.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E05785-1556-6BC7-E831-2A49E1AE5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AA8D4D4-A2E9-49C6-2F2E-7ED65B0A5A2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Carga de imagenes_proyecto1.png desde la carpeta del manual.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6AAA56-DF84-B1A3-662B-3ECC6B7891C7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55 / 77</a:t>
            </a:r>
          </a:p>
        </p:txBody>
      </p:sp>
    </p:spTree>
    <p:extLst>
      <p:ext uri="{BB962C8B-B14F-4D97-AF65-F5344CB8AC3E}">
        <p14:creationId xmlns:p14="http://schemas.microsoft.com/office/powerpoint/2010/main" val="1475940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592AE29-7C06-8FA0-DD1A-F55296FC0AE9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Portada, orden y eliminación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AAB223-5F64-E3B1-8ABF-0AEAA849F6BE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169-Seleccionar la portada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la imagen deseada pulsa Usar como portada. Comprueba la etiqueta Portada y la tarjeta de vista previa.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170-Ordenar la galería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Modifica el número de Orden de cada imagen y pulsa Guardar orden.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171-Eliminar una imagen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Eliminar en la imagen correspondiente y confirma. Se elimina también su archivo del almacenamiento de la aplicación.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98BEB5-83E0-CB85-4900-A3378A0D3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2338E13-AA32-25FA-DB4A-A88FDE4809A2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Portada y galería del proyecto EcoRiego.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286EF1-4576-E729-7B3E-2D05ED7FB6B9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56 / 77</a:t>
            </a:r>
          </a:p>
        </p:txBody>
      </p:sp>
    </p:spTree>
    <p:extLst>
      <p:ext uri="{BB962C8B-B14F-4D97-AF65-F5344CB8AC3E}">
        <p14:creationId xmlns:p14="http://schemas.microsoft.com/office/powerpoint/2010/main" val="15148430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8FD0CD-4E3D-A969-9944-51F2F3D1083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Comprobar la galería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89C80E3-8170-DA74-8742-8BDE641EFCBF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172-Eliminar una imagen de galería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Al eliminar una imagen que no es portada, se conserva la portada seleccionada y las demás imágenes de la galería.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173-Eliminar la portada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Si eliminas la portada, se selecciona otra imagen disponible según el orden de la galería. Puedes elegir otra con Usar como portada.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174-Consultar la publicación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el proyecto público para ver la portada y ampliar las imágenes de la galería. Si eliminas todas las imágenes, la publicación queda sin imágenes.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703B5A-1AE3-4965-2C8F-A6D7B6A03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E1289E-635D-2D82-E0C6-D3E23E40526C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Proyecto EcoRiego con una portada y una imagen de galería.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29B5D1-F873-8471-82A9-0BA773E62E02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57 / 77</a:t>
            </a:r>
          </a:p>
        </p:txBody>
      </p:sp>
    </p:spTree>
    <p:extLst>
      <p:ext uri="{BB962C8B-B14F-4D97-AF65-F5344CB8AC3E}">
        <p14:creationId xmlns:p14="http://schemas.microsoft.com/office/powerpoint/2010/main" val="15293167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74A077-B4CB-EFC4-F1CC-E2B5E464BCA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Publicar y destacar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81EC42B-D56B-293F-6C09-B2B25AD4F95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175-Confirmar la versión aprobada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el proyecto, su versión y sus imágenes.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176-Elegir si será destacado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Marca Destacar en el portal si deseas resaltar el proyecto.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177-Publicar y comprobar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Publicar proyecto o Publicar esta versión. Abre Vista previa o el catálogo público para comprobar la publicación.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7E4176-4BBE-9FB7-6831-E45444D13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7C4E137-F6E7-712B-CAFB-9658409EC6D6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Versión seleccionada y opción Destacar en el portal.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89931A-5D3A-58C3-1520-7C9AEA284CB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58 / 77</a:t>
            </a:r>
          </a:p>
        </p:txBody>
      </p:sp>
    </p:spTree>
    <p:extLst>
      <p:ext uri="{BB962C8B-B14F-4D97-AF65-F5344CB8AC3E}">
        <p14:creationId xmlns:p14="http://schemas.microsoft.com/office/powerpoint/2010/main" val="22080954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5CBE17F-1388-4CC1-BF72-F993BFC55B07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Ocultar y volver a publicar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5F9ED79-C5CA-D24F-09ED-E83E42762E21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178-Ocultar una publicación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 proyecto publicado pulsa Ocultar y confirma. Dejará de mostrarse en el portal público.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179-Volver a mostrarla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Conserva o selecciona la versión aprobada y pulsa Publicar proyecto. Las imágenes y los likes se mantienen al ocultar.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180-Cambiar el destacado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publicación visible usa Destacar o Quitar destacado. Esta opción no altera la aprobación académica.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920ED5-32CA-270F-CF96-2F496FE4F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3007581-E4ED-E9D9-9262-E5070979DF30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Publicación oculta con sus imágenes conservadas.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A4A1D6-322E-4C5A-2091-EE4CF36D5B5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59 / 77</a:t>
            </a:r>
          </a:p>
        </p:txBody>
      </p:sp>
    </p:spTree>
    <p:extLst>
      <p:ext uri="{BB962C8B-B14F-4D97-AF65-F5344CB8AC3E}">
        <p14:creationId xmlns:p14="http://schemas.microsoft.com/office/powerpoint/2010/main" val="41101941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754B64-F5AC-FECC-D3CA-6088699260B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Crear una noticia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8EB9B2-E6B9-1AC8-96BC-73BA67C2AE49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181-Abrir Noticias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el menú selecciona Noticias y luego la opción para crear una noticia.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182-Redactar el contenido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Título, Resumen y Contenido. El resumen aparece en la tarjeta pública; el contenido admite texto y saltos de línea.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183-Guardar el borrador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borrador / cambios. Al guardar se habilitan las opciones para agregar imágenes, videos y enlaces.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8FB0FE-384C-02BD-F90F-C4414D663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2B2BD8-5FFE-8789-F7DC-29BA3C10007F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Texto de la noticia Feria de innovación 2026.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702C06-E159-AF22-28E4-82AEF61ACE1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60 / 77</a:t>
            </a:r>
          </a:p>
        </p:txBody>
      </p:sp>
    </p:spTree>
    <p:extLst>
      <p:ext uri="{BB962C8B-B14F-4D97-AF65-F5344CB8AC3E}">
        <p14:creationId xmlns:p14="http://schemas.microsoft.com/office/powerpoint/2010/main" val="10785635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581C8F-27B1-BFA0-DF86-1074CC0FFD5B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Imágenes de una noticia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FA7CFC-365E-E38D-624E-0D0E7A3D0A47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184-Elegir el archivo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Portada y galería selecciona una imagen JPG, PNG o WebP de hasta 5 MB.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185-Describir y subir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el texto alternativo. Marca Usar como portada si corresponde y pulsa Subir imagen.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186-Agregar la galería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Repite con las demás imágenes. La primera imagen se convierte en portada automáticamente; puedes cambiarla después.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6638AE-164E-7579-FB21-1C4C8E706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BACCCB1-A1AD-AE73-1AD8-F5A736F6D40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Carga de imagen_noticia1.png como imagen editorial.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D39234-9C3E-5F8F-4BCA-DE52B8CAEFBC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61 / 77</a:t>
            </a:r>
          </a:p>
        </p:txBody>
      </p:sp>
    </p:spTree>
    <p:extLst>
      <p:ext uri="{BB962C8B-B14F-4D97-AF65-F5344CB8AC3E}">
        <p14:creationId xmlns:p14="http://schemas.microsoft.com/office/powerpoint/2010/main" val="28035661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8C2222-9F16-4ED6-96EE-0DA9C574FAE3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Administrar la galería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0F758D-982C-B63F-7B93-AF08BCD9BAF7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187-Cambiar la portada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una imagen de la galería pulsa Hacer portada y verifica la etiqueta correspondiente.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188-Ajustar el orden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el número de orden de cada imagen y pulsa Orden para guardarlo.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189-Quitar una imagen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Eliminar y confirma. Guarda previamente una copia del archivo si deseas conservarlo para reutilizarlo.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AB25FB-22FC-17B6-B50E-C0C6FCDA7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6A09BF-7201-CCA4-E2D9-D36F0D0AD557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Dos imágenes de ejemplo guardadas en la noticia.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95E5ED3-8600-30E0-9908-11BE5911649C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62 / 77</a:t>
            </a:r>
          </a:p>
        </p:txBody>
      </p:sp>
    </p:spTree>
    <p:extLst>
      <p:ext uri="{BB962C8B-B14F-4D97-AF65-F5344CB8AC3E}">
        <p14:creationId xmlns:p14="http://schemas.microsoft.com/office/powerpoint/2010/main" val="1406519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D30928-4ED8-52DB-D7D1-CCCCC82D3C3D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Agregar un video local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E57AD8-927D-5658-7A33-2BCCD0E9214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190-Ubicar Video local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la noticia guardada selecciona un archivo MP4. Consulta el límite indicado; en este portal es de 100 MB.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191-Subir el video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Subir / reemplazar video. Comprueba que aparezcan el reproductor y el nombre del archivo.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192-Reemplazar o eliminar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Sube otro MP4 para sustituirlo. Para retirarlo utiliza Eliminar video y confirma. El video local se reproduce desde el servidor.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711C93-E6EB-BBBC-2406-1095F101B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6D7B5E-0221-E0AF-4719-55B213C3424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Video MP4 de demostración guardado y disponible para reproducción.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BB06E2-FFD4-D461-308E-7639D52A8BA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63 / 77</a:t>
            </a:r>
          </a:p>
        </p:txBody>
      </p:sp>
    </p:spTree>
    <p:extLst>
      <p:ext uri="{BB962C8B-B14F-4D97-AF65-F5344CB8AC3E}">
        <p14:creationId xmlns:p14="http://schemas.microsoft.com/office/powerpoint/2010/main" val="18132603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89FBD9-17C9-321C-539C-067489D3F96C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Video externo y enlaces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3959D8-3516-71E4-EB99-8A3ACF54CF5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193-Agregar un video externo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Video externo pega una URL válida de YouTube y pulsa Guardar video externo. La reproducción requiere Internet.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194-Retirar el video externo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Vacía el campo URL de YouTube y guarda el formulario para quitar la referencia.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195-Agregar enlaces relacionados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una etiqueta y una URL HTTP o HTTPS en Enlaces relacionados y pulsa Agregar enlace. Utiliza el botón de eliminación junto al enlace para retirarlo.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22AD56-5D01-3387-E965-2AFE90BA1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333099F-7B95-BB38-2423-46AB46B984A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Formulario para guardar una URL de YouTube.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ADF04B-CE4F-4000-B104-8EC93DB63EE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64 / 77</a:t>
            </a:r>
          </a:p>
        </p:txBody>
      </p:sp>
    </p:spTree>
    <p:extLst>
      <p:ext uri="{BB962C8B-B14F-4D97-AF65-F5344CB8AC3E}">
        <p14:creationId xmlns:p14="http://schemas.microsoft.com/office/powerpoint/2010/main" val="24617376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FA521B9-0E4F-19F9-2333-7FB6210715C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Revisar la vista previa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2ABDFD-7243-AEA5-D9C3-0944776489B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196-Guardar los cambios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Antes de revisar la presentación, guarda el texto y los medios que hayas agregado.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197-Abrir Vista previa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Vista previa para revisar título, resumen, contenido, portada, galería y video.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198-Corregir lo necesario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Regresa al editor para ajustar el contenido. Ver una noticia en esta vista previa no significa que ya esté publicada.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D732A3-5379-230B-4E77-E2512B3F3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B11EAFE-339A-E129-63A9-2371CD148188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1000">
                <a:solidFill>
                  <a:srgbClr val="707070"/>
                </a:solidFill>
                <a:latin typeface="Aptos" panose="020B0004020202020204" pitchFamily="34" charset="0"/>
              </a:rPr>
              <a:t>Vista previa administrativa de la noticia antes de publicarla.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592446-020A-B84A-8DDD-BA87DB859D5A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65 / 77</a:t>
            </a:r>
          </a:p>
        </p:txBody>
      </p:sp>
    </p:spTree>
    <p:extLst>
      <p:ext uri="{BB962C8B-B14F-4D97-AF65-F5344CB8AC3E}">
        <p14:creationId xmlns:p14="http://schemas.microsoft.com/office/powerpoint/2010/main" val="19352211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85C709-4C68-4C6B-EDE6-67732426568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Publicar una noticia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55A7DD4-C938-CAA3-8393-622E6C9E76B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199-Elegir si será destacada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Marca Destacar en el portal si deseas resaltarla entre las noticias.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200-Guardar y publicar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Guardar y publicar. Si ya estaba publicada, el botón permite Guardar y publicar cambios.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201-Comprobar el resultado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Noticias en el portal público y entra a Leer más. Revisa también las imágenes, el video y los enlaces.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C84F3C-A614-EA5B-B13E-7091BFEF5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2358738-A3C5-018A-C6B0-3DE7759FF783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Acciones de guardado, publicación y vista previa.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136760-3017-C1DC-161E-BC929FF859E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66 / 77</a:t>
            </a:r>
          </a:p>
        </p:txBody>
      </p:sp>
    </p:spTree>
    <p:extLst>
      <p:ext uri="{BB962C8B-B14F-4D97-AF65-F5344CB8AC3E}">
        <p14:creationId xmlns:p14="http://schemas.microsoft.com/office/powerpoint/2010/main" val="31417511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DB83B1-D837-7672-DBA6-75C060924798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Ocultar o recuperar una noticia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7D9C71-9D46-D7EA-52E6-446E37536349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202-Ocultar la noticia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Estado editorial pulsa Ocultar noticia y confirma. La noticia dejará de mostrarse al público.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203-Conservar el contenido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texto y los medios permanecen disponibles en administración.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204-Volver a publicarla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la noticia oculta y pulsa Volver a publicar. Comprueba su presencia en el listado público.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93F46F-9DB4-6FB3-6EB9-50ECF205B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4365A2B-5AA2-CCA7-5287-C19CE9520BF5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Noticia oculta con la opción Volver a publicar.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E15173-C2C3-7553-9123-AA7FC5AFCE0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67 / 77</a:t>
            </a:r>
          </a:p>
        </p:txBody>
      </p:sp>
    </p:spTree>
    <p:extLst>
      <p:ext uri="{BB962C8B-B14F-4D97-AF65-F5344CB8AC3E}">
        <p14:creationId xmlns:p14="http://schemas.microsoft.com/office/powerpoint/2010/main" val="3911738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5493A8-A97C-9DFD-AE55-213C29017291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Eliminar un borrador de noticia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F1FE82-2186-55FA-EE68-307ADE695BB8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205-Revisar el estado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una noticia en Borrador que nunca se haya publicado.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206-Eliminar el borrador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Ubica Eliminar borrador, pulsa el botón y confirma. Se eliminan el borrador y sus archivos.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207-Usar Ocultar para publicaciones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Una noticia ya publicada se retira del portal mediante Ocultar noticia. Puedes filtrar el listado por estado para encontrarla.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DFDC6F-9464-7C2D-004D-233E46DCF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B3C1102-0B42-7411-A148-F2EC9DA46DCA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Acción disponible para una noticia que nunca se publicó.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983433-5E29-852F-830B-6497B2059E5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68 / 77</a:t>
            </a:r>
          </a:p>
        </p:txBody>
      </p:sp>
    </p:spTree>
    <p:extLst>
      <p:ext uri="{BB962C8B-B14F-4D97-AF65-F5344CB8AC3E}">
        <p14:creationId xmlns:p14="http://schemas.microsoft.com/office/powerpoint/2010/main" val="21350693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E0C393-0A88-6E36-74B1-CD0D1285883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>
                <a:solidFill>
                  <a:srgbClr val="000000"/>
                </a:solidFill>
                <a:latin typeface="Aptos Display" panose="020B0004020202020204" pitchFamily="34" charset="0"/>
              </a:rPr>
              <a:t>Buscar noticias y revisar avisos</a:t>
            </a:r>
            <a:endParaRPr lang="es-MX" sz="2800">
              <a:solidFill>
                <a:srgbClr val="00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0DACCA-0C9C-9F50-ED0D-A79E252A320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208-Filtrar Noticias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Usa la búsqueda y los filtros de estado o destacado para localizar la noticia que deseas administrar.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209-Abrir Notificaciones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Consulta las solicitudes y actividades recibidas por tu cuenta. Abrir te lleva al elemento relacionado.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210-Mantener los pendientes al día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Marca un aviso como leído o utiliza Marcar todas como leídas. Revisa No leídas para comprobar que atendiste los pendientes.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770C4E-5B24-5761-075E-90E0BADA3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127CDB-A4DD-1271-E502-F96677EE4AF6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Listado de noticias publicadas durante la demostración.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8A5B10-EAA2-2824-4853-7FC4A6DB990C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69 / 77</a:t>
            </a:r>
          </a:p>
        </p:txBody>
      </p:sp>
    </p:spTree>
    <p:extLst>
      <p:ext uri="{BB962C8B-B14F-4D97-AF65-F5344CB8AC3E}">
        <p14:creationId xmlns:p14="http://schemas.microsoft.com/office/powerpoint/2010/main" val="779310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CE54C6-91DF-92F1-CB75-FD545FB9D7CF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la bitácora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638072-A657-989C-2A55-2D3A682180D5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211-Abrir Bitácora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Administrador también puede consultar Bitácora desde su menú.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212-Filtrar la actividad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Escribe el usuario, acción o entidad que necesitas revisar. Puedes delimitar el periodo con Desde y Hasta y pulsar Filtrar.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213-Revisar los registros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Comprueba fecha, usuario y resumen de cada evento. Usa Limpiar o la paginación para ampliar la consulta. La bitácora es de sólo lectura.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415A1B-91AA-56E6-F7ED-7EA654C14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6873521-E6AC-7ECD-4E34-549A9F8547B8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Consulta de las acciones de Elena relacionadas con proyectos.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60CB92-5BBB-5AC7-BEEE-91D74F14559D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Administrador · 70 / 77</a:t>
            </a:r>
          </a:p>
        </p:txBody>
      </p:sp>
    </p:spTree>
    <p:extLst>
      <p:ext uri="{BB962C8B-B14F-4D97-AF65-F5344CB8AC3E}">
        <p14:creationId xmlns:p14="http://schemas.microsoft.com/office/powerpoint/2010/main" val="27972192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7A4F81F-EB7A-2ECA-8F57-0E2F27208A17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Explorar el portal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BBBBE2-04F9-021B-7EA0-A7B6D1AEC369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214-Abrir la dirección del portal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 la computadora del servidor se utiliza http://localhost:5000. En otro equipo usa la dirección del servidor indicada por el responsable.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215-Explorar las publicaciones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Desde Inicio puedes entrar a los proyectos destacados y a las noticias. También puedes usar Proyectos o Noticias en el menú.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216-Acceder a tu espacio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Selecciona Iniciar sesión para entrar a tu panel o Crear cuenta si eres un alumno nuevo.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4875C-EAA4-4D1B-A279-D329679F6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63D49E-0AD7-1103-9A06-61E639FBF70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Página de inicio con proyectos y noticias de demostración.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21766C-120D-639E-C629-999390DAC5CD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Portal público · 71 / 77</a:t>
            </a:r>
          </a:p>
        </p:txBody>
      </p:sp>
    </p:spTree>
    <p:extLst>
      <p:ext uri="{BB962C8B-B14F-4D97-AF65-F5344CB8AC3E}">
        <p14:creationId xmlns:p14="http://schemas.microsoft.com/office/powerpoint/2010/main" val="15142610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6D78148-9F10-B079-AE42-F992E0F3F85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Buscar y filtrar proyectos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440FE0-ADF0-C1CC-0051-D2D88496A4E6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217-Abrir Proyectos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catálogo público muestra únicamente los proyectos publicados.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218-Aplicar los filtros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Busca por nombre y combina carrera, materia, tipo, desarrollo y ciclo escolar. Elige el orden y pulsa Aplicar.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219-Consultar los resultados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Ver proyecto para abrir el detalle. Usa Limpiar para restablecer los filtros y la paginación cuando existan más resultados.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852D65-4172-8D42-6C0C-743A2990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09F2E98-6844-7521-F2CC-62420C6ABA8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Búsqueda de RoboRuta con estado de desarrollo Terminado.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852D62-CF3A-BD8A-2B36-FDCE1E32FC15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Portal público · 72 / 77</a:t>
            </a:r>
          </a:p>
        </p:txBody>
      </p:sp>
    </p:spTree>
    <p:extLst>
      <p:ext uri="{BB962C8B-B14F-4D97-AF65-F5344CB8AC3E}">
        <p14:creationId xmlns:p14="http://schemas.microsoft.com/office/powerpoint/2010/main" val="39779544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31D5315-FA74-4ED4-BD8C-5BF18725B80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el proyecto público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EB717E-CE47-4831-BB81-6039193AE08D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220-Leer la información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la descripción, clasificación, integrantes y estado de desarrollo del proyecto publicado.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221-Explorar la galería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Pulsa una imagen para ampliarla. Utiliza los controles disponibles y cierra la vista ampliada para regresar.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222-Consultar documentos privados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El PDF se consulta desde los paneles de las cuentas autorizadas; la ficha pública muestra el contenido seleccionado para publicación.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FBCDFD-B822-94E8-EDB4-E710CD593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7C44163-D5A1-DA2D-9AA1-361BA4595E1D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Ficha pública de EcoRiego con la imagen generada para su portada.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73619F-7D09-C32C-3AFA-51B70D730466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Portal público · 73 / 77</a:t>
            </a:r>
          </a:p>
        </p:txBody>
      </p:sp>
    </p:spTree>
    <p:extLst>
      <p:ext uri="{BB962C8B-B14F-4D97-AF65-F5344CB8AC3E}">
        <p14:creationId xmlns:p14="http://schemas.microsoft.com/office/powerpoint/2010/main" val="14442205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F6322B-5A11-BC24-0C13-3783E7E67532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Consultar las noticias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E03E62-BBEA-AA47-76C0-DD301C99E1A3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223-Abrir Noticias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Utiliza la búsqueda por título o resumen y pulsa Buscar.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224-Seleccionar Leer más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la noticia para consultar su contenido completo, galería y videos.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225-Abrir enlaces relacionados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Los enlaces se abren en otra pestaña. Los videos locales se sirven desde el portal; los de YouTube necesitan conexión a Internet.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484B92-FEF3-299A-8CEE-EF7CA4E7D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4EAE85D-8F86-E0AA-EE37-F88B1F2DDE41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Noticias públicas con sus portadas generadas.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7EDBE8-029D-104A-2AC9-EC75EFC7964E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900">
                <a:solidFill>
                  <a:srgbClr val="707070"/>
                </a:solidFill>
                <a:latin typeface="Aptos" panose="020B0004020202020204" pitchFamily="34" charset="0"/>
              </a:rPr>
              <a:t>Portal público · 74 / 77</a:t>
            </a:r>
          </a:p>
        </p:txBody>
      </p:sp>
    </p:spTree>
    <p:extLst>
      <p:ext uri="{BB962C8B-B14F-4D97-AF65-F5344CB8AC3E}">
        <p14:creationId xmlns:p14="http://schemas.microsoft.com/office/powerpoint/2010/main" val="20036333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F436CD1-982C-E311-1120-EFA843465E26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Preparar el equipo servidor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06ECD7-9DAE-544C-59BE-8F8592A164BA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226-Ubicar el paquete completo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Utiliza la carpeta PortalProyectos-PrimeraEntrega-win-x64 de artifacts/release. Conserva app, data, storage y las carpetas operativas juntas.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227-Iniciar la aplicación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Entra a app y ejecuta PortalProyectos.Web.exe. El paquete incluye el entorno de ejecución para Windows x64. Las dos primeras diapositivas explican la inicialización.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228-Verificar el acceso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Abre el portal y prueba el inicio de sesión. Para otros equipos, el responsable debe configurar la dirección de escucha, el puerto y el acceso de la red local.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5008EC-12AF-3BE6-48E9-A065D01FA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6B1A14E-501A-DDE6-CBFB-301B3EC6EC89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Portal local en funcionamiento después de iniciar el ejecutable.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6FBAEC-D3EA-2C80-976D-52172AC606AB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707070"/>
                </a:solidFill>
                <a:latin typeface="Aptos" panose="020B0004020202020204" pitchFamily="34" charset="0"/>
              </a:rPr>
              <a:t>Operación y consulta · 75 / 77</a:t>
            </a:r>
            <a:endParaRPr lang="es-MX" sz="9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997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C3DE35-8CCD-A429-362D-781557DC1B94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Respaldar y restaurar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B20A18-BBB5-9D45-F9FF-2CE5B071FA9B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229-Detener y respaldar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Detén la aplicación antes de copiar los datos. Respalda juntos la base SQLite y sus archivos asociados, storage, las claves de data/keys y la configuración.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230-Conservar la copia completa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Guarda el respaldo en una carpeta fechada y verifica los archivos. El proyecto incluye scripts/backup.ps1.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231-Restaurar con la aplicación detenida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Conserva primero el estado actual. Restaura un conjunto coherente de base, archivos y claves; inicia y verifica acceso, documentos e imágenes.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50B0C0-0A3D-2987-1A6C-3FD0AD0A4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DCF883-86ED-AECE-56E5-F5BE07BB5BB4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Diagnóstico con los documentos e imágenes utilizados en el manual.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75CFC4-4654-A9D7-A84C-29C2CE670A5C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707070"/>
                </a:solidFill>
                <a:latin typeface="Aptos" panose="020B0004020202020204" pitchFamily="34" charset="0"/>
              </a:rPr>
              <a:t>Operación y consulta · 76 / 77</a:t>
            </a:r>
            <a:endParaRPr lang="es-MX" sz="9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7141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FE2E17-8DC1-E970-5719-DAE31FBFA975}"/>
              </a:ext>
            </a:extLst>
          </p:cNvPr>
          <p:cNvSpPr txBox="1"/>
          <p:nvPr/>
        </p:nvSpPr>
        <p:spPr>
          <a:xfrm>
            <a:off x="457200" y="5715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MX" sz="2800">
                <a:solidFill>
                  <a:srgbClr val="000000"/>
                </a:solidFill>
                <a:latin typeface="Aptos Display" panose="020B0004020202020204" pitchFamily="34" charset="0"/>
              </a:rPr>
              <a:t>Resolver dudas frecuentes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BD82A8-42DA-38F3-0B84-06C9A1570F12}"/>
              </a:ext>
            </a:extLst>
          </p:cNvPr>
          <p:cNvSpPr txBox="1"/>
          <p:nvPr/>
        </p:nvSpPr>
        <p:spPr>
          <a:xfrm>
            <a:off x="457200" y="14859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232-No puedo crear un proyecto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Revisa que tu cuenta esté Aprobada. Si faltan materias o catálogos, solicita al SuperAdministrador que configure opciones activas para tu carrera.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233-No puedo agregar a un compañero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Verifica su matrícula, que su cuenta esté aprobada y que no se haya alcanzado el límite de integrantes.</a:t>
            </a:r>
          </a:p>
          <a:p>
            <a:pPr>
              <a:spcAft>
                <a:spcPts val="400"/>
              </a:spcAft>
            </a:pPr>
            <a:r>
              <a:rPr lang="es-ES" sz="1700" b="1">
                <a:solidFill>
                  <a:srgbClr val="000000"/>
                </a:solidFill>
                <a:latin typeface="Aptos" panose="020B0004020202020204" pitchFamily="34" charset="0"/>
              </a:rPr>
              <a:t>234-No aparece una publicación</a:t>
            </a:r>
          </a:p>
          <a:p>
            <a:pPr>
              <a:spcAft>
                <a:spcPts val="800"/>
              </a:spcAft>
            </a:pPr>
            <a:r>
              <a:rPr lang="es-ES" sz="1700">
                <a:solidFill>
                  <a:srgbClr val="000000"/>
                </a:solidFill>
                <a:latin typeface="Aptos" panose="020B0004020202020204" pitchFamily="34" charset="0"/>
              </a:rPr>
              <a:t>Aprobar y publicar son pasos distintos. Administración debe publicar el proyecto o la noticia y comprobar que no esté oculto.</a:t>
            </a:r>
            <a:endParaRPr lang="es-MX" sz="17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7B80F4-05C2-3EFC-167D-3A8FB12EE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0" y="1492151"/>
            <a:ext cx="6159500" cy="43308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A863835-F6EF-CE46-1802-BDE690487404}"/>
              </a:ext>
            </a:extLst>
          </p:cNvPr>
          <p:cNvSpPr txBox="1"/>
          <p:nvPr/>
        </p:nvSpPr>
        <p:spPr>
          <a:xfrm>
            <a:off x="5651500" y="62357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000">
                <a:solidFill>
                  <a:srgbClr val="707070"/>
                </a:solidFill>
                <a:latin typeface="Aptos" panose="020B0004020202020204" pitchFamily="34" charset="0"/>
              </a:rPr>
              <a:t>Ejemplo de una cuenta que aún espera aprobación.</a:t>
            </a:r>
            <a:endParaRPr lang="es-MX" sz="10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A38E0C-D862-539A-035F-35FBCD9FAEFD}"/>
              </a:ext>
            </a:extLst>
          </p:cNvPr>
          <p:cNvSpPr txBox="1"/>
          <p:nvPr/>
        </p:nvSpPr>
        <p:spPr>
          <a:xfrm>
            <a:off x="457200" y="65278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707070"/>
                </a:solidFill>
                <a:latin typeface="Aptos" panose="020B0004020202020204" pitchFamily="34" charset="0"/>
              </a:rPr>
              <a:t>Operación y consulta · 77 / 77</a:t>
            </a:r>
            <a:endParaRPr lang="es-MX" sz="900">
              <a:solidFill>
                <a:srgbClr val="707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6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8324</Words>
  <Application>Microsoft Office PowerPoint</Application>
  <PresentationFormat>Panorámica</PresentationFormat>
  <Paragraphs>1000</Paragraphs>
  <Slides>77</Slides>
  <Notes>75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1" baseType="lpstr">
      <vt:lpstr>Aptos</vt:lpstr>
      <vt:lpstr>Aptos Display</vt:lpstr>
      <vt:lpstr>Arial</vt:lpstr>
      <vt:lpstr>Tema de Office</vt:lpstr>
      <vt:lpstr>Primera Instalación </vt:lpstr>
      <vt:lpstr>Primer Inicio de sesión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M. Perez P.</dc:creator>
  <cp:lastModifiedBy>Victor M. Perez P.</cp:lastModifiedBy>
  <cp:revision>2</cp:revision>
  <dcterms:created xsi:type="dcterms:W3CDTF">2026-10-10T21:00:35Z</dcterms:created>
  <dcterms:modified xsi:type="dcterms:W3CDTF">2026-10-11T03:51:16Z</dcterms:modified>
</cp:coreProperties>
</file>